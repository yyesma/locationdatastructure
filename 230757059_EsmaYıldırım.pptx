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9" r:id="rId1"/>
  </p:sldMasterIdLst>
  <p:sldIdLst>
    <p:sldId id="256" r:id="rId2"/>
    <p:sldId id="261" r:id="rId3"/>
    <p:sldId id="276" r:id="rId4"/>
    <p:sldId id="277" r:id="rId5"/>
    <p:sldId id="283" r:id="rId6"/>
    <p:sldId id="274" r:id="rId7"/>
    <p:sldId id="284" r:id="rId8"/>
    <p:sldId id="285" r:id="rId9"/>
    <p:sldId id="286" r:id="rId10"/>
    <p:sldId id="272" r:id="rId11"/>
    <p:sldId id="275" r:id="rId12"/>
    <p:sldId id="282" r:id="rId13"/>
    <p:sldId id="264" r:id="rId14"/>
    <p:sldId id="268" r:id="rId15"/>
    <p:sldId id="269" r:id="rId16"/>
    <p:sldId id="270" r:id="rId17"/>
    <p:sldId id="287" r:id="rId18"/>
    <p:sldId id="288" r:id="rId19"/>
    <p:sldId id="289" r:id="rId20"/>
    <p:sldId id="290" r:id="rId21"/>
    <p:sldId id="267" r:id="rId22"/>
    <p:sldId id="260" r:id="rId2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27F97BB-C833-4FB7-BDE5-3F7075034690}" styleName="Tema Uygulanmış Stil 2 - Vurgu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C6AE90-FF81-2488-2C29-B016D7F3F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71701AF-A7A8-C579-73A3-5C8D57C96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88D22C-0011-0D00-C4F3-6B827811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F81A7B4-7654-E3F3-8242-B02FEB898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402B13E-A5DB-D8DB-821A-FC63D3F3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81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787C2E-3E68-DCC7-BE32-B4CB5152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2A8BF43-363C-FF95-CC88-98A8B8342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F2521B3-0329-023B-22E9-2B61A9FF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101EAA-9D04-0E77-A0AC-18F45001C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DB18BD5-41AD-6DE8-BAF3-002E7E06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45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11FF68C-FE1E-4D2C-1E3F-C1D6E9BC9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E9D3989-A842-1C05-7C65-FA67DC434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9F3C366-171B-5049-0FB6-F9932532A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79BDBEC-6751-9C3A-872C-0937133C4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5FE7085-69C4-47F8-FC13-16E7892B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87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80C77C-D435-A583-8AC0-2F5596FE1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3AAE53-6AB0-950E-6FBA-BA42D06E7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C3E8234-FAF3-BCFA-6B7A-0BF715753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D0AC654-5A97-7171-D4AB-DCA428E3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BA74FC1-49CC-460E-54ED-6D78917EB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3DF5D2B-D8EB-3ABB-C8F1-17933AD0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262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65B36E-326A-3BB7-AD72-8B87E569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C6EAA06-CE76-0D8D-749B-05B8CDCE8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4F8E26E-88C3-8232-21A3-DB026CD3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862AF9E-6399-4590-B8F7-62841FA0C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B52111B-1D09-B3E1-3941-5794157FB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BA1402A-8019-86B8-EB1C-0777709C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033E07F-B5B7-0E2A-4CC6-67D90B3DD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F2F4F493-E67C-D081-EECB-475A4CD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0143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27A0325-480F-CAA8-00BB-08CF40F50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A1519F2-C028-3B26-3426-CF2B4D4F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FB72EF9-63F7-305A-665B-D3743E46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17BC802-73DA-3B84-2A78-5F478D2D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250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D2D49A1-079C-54A4-D7A0-2A39E46A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8A8B9435-54D4-B911-3494-1E5E9C7DA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C89AE0-152F-0985-26BE-968FACBE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79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FC316DA-9E46-0D94-FB6A-6ABF112DE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B090D69-A15B-109D-5158-1287025D8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5E232CC-1A86-0285-5239-99F85EFE7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024D151-0E57-C44B-1881-65122F358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2AE92DE-0C3E-E089-3648-8715337A5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B0B4588-B84D-A34B-71F3-D98C73B2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43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481855-B462-CDE4-A0B5-0AC199E16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2CFAE3C-47A7-4AE4-3CC5-A597FA974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B4A7CBB-6DDE-12FE-F70A-78D4F89F0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03F80F8-0417-EDBE-B857-8433EB4B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8B5984D-210D-7B21-BF7C-53DCBB73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D4042DE-00F3-370B-BBF7-A45C9FD1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877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6F36F1-185E-8AC8-77DE-B420DBD4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12570D1-EE71-26D3-8047-05F863803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B32202F-E106-A799-8D53-F0A2F2B7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4A42180-F212-8385-D223-7B63C460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872F1F4-9C42-D1E0-474D-85C81323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24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084DE16-63C8-53DA-2AFA-2E23429EA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4F9B5DD-7F9F-5D58-E2B5-8C25F03C2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D9BAC4E-D6E4-D216-F9B4-5EF67B2E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6A6D438-EB3D-C8D8-CB96-E87D5558F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B8C9C70-5C12-7303-CE2C-4118845C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50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E8612F1-1C71-9BD6-98F3-8E10F8B0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02B2640-436E-A0D7-E110-2ADC5829C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5E43D44-64F7-543E-43FF-1B2ADA141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9AB0FB-9B62-32E9-18FF-CC9FB4628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79E60CE-4D2A-CC53-41F9-3CD68FAE5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66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-tree" TargetMode="External"/><Relationship Id="rId2" Type="http://schemas.openxmlformats.org/officeDocument/2006/relationships/hyperlink" Target="https://pyblog.xyz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K-d_tre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04C111C5-6BA1-A3AE-CE47-60E779A84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6172" y="808475"/>
            <a:ext cx="2514600" cy="2538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2B7A7D24-AC36-9470-1E2B-63F76853B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068" y="0"/>
            <a:ext cx="5425387" cy="6858000"/>
          </a:xfrm>
          <a:prstGeom prst="rect">
            <a:avLst/>
          </a:prstGeom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02CBE29F-8E68-AE25-7622-2778FE2205E7}"/>
              </a:ext>
            </a:extLst>
          </p:cNvPr>
          <p:cNvSpPr txBox="1"/>
          <p:nvPr/>
        </p:nvSpPr>
        <p:spPr>
          <a:xfrm>
            <a:off x="522514" y="311499"/>
            <a:ext cx="8631318" cy="5620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1" dirty="0"/>
              <a:t>ÖĞRENCİ ADI SOYADI : ESMA YILDIRIM</a:t>
            </a:r>
          </a:p>
          <a:p>
            <a:endParaRPr lang="tr-TR" sz="1800" b="1" dirty="0"/>
          </a:p>
          <a:p>
            <a:r>
              <a:rPr lang="tr-TR" sz="1800" b="1" dirty="0"/>
              <a:t>ÖĞRENCİNİN NUMARASI : 230757059</a:t>
            </a:r>
          </a:p>
          <a:p>
            <a:endParaRPr lang="tr-TR" sz="1800" b="1" dirty="0"/>
          </a:p>
          <a:p>
            <a:r>
              <a:rPr lang="tr-TR" sz="1800" b="1" dirty="0"/>
              <a:t>FAKÜLTE : MÜHENDİSLİK FAKÜLTESİ</a:t>
            </a:r>
          </a:p>
          <a:p>
            <a:endParaRPr lang="tr-TR" sz="1800" b="1" dirty="0"/>
          </a:p>
          <a:p>
            <a:r>
              <a:rPr lang="tr-TR" sz="1800" b="1" dirty="0"/>
              <a:t>BÖLÜM : BİLGİSAYAR MÜHENDİSLİĞİ BÖLÜMÜ </a:t>
            </a:r>
          </a:p>
          <a:p>
            <a:endParaRPr lang="tr-TR" sz="1800" b="1" dirty="0"/>
          </a:p>
          <a:p>
            <a:r>
              <a:rPr lang="tr-TR" sz="1800" b="1" dirty="0"/>
              <a:t>EĞİTİM ÖĞRETİM DÖNEMİ: 2025-2026 GÜZ DÖNEMİ</a:t>
            </a:r>
          </a:p>
          <a:p>
            <a:endParaRPr lang="tr-TR" sz="1800" b="1" dirty="0"/>
          </a:p>
          <a:p>
            <a:r>
              <a:rPr lang="tr-TR" sz="1800" b="1" dirty="0"/>
              <a:t>GRUP : İKİNCİ ÖĞRETİM</a:t>
            </a:r>
          </a:p>
          <a:p>
            <a:endParaRPr lang="tr-TR" sz="1800" b="1" dirty="0"/>
          </a:p>
          <a:p>
            <a:r>
              <a:rPr lang="tr-TR" sz="1800" b="1" dirty="0"/>
              <a:t>DERSİN ADI : VERİ YAPILARI VE ALGORİTMALAR</a:t>
            </a:r>
          </a:p>
          <a:p>
            <a:endParaRPr lang="tr-TR" sz="1800" b="1" dirty="0"/>
          </a:p>
          <a:p>
            <a:r>
              <a:rPr lang="tr-TR" sz="1800" b="1" dirty="0"/>
              <a:t>DERSİN KODU : MBM-203</a:t>
            </a:r>
          </a:p>
          <a:p>
            <a:endParaRPr lang="tr-TR" sz="1800" b="1" dirty="0"/>
          </a:p>
          <a:p>
            <a:r>
              <a:rPr lang="tr-TR" sz="1800" b="1" dirty="0"/>
              <a:t>DERSİN ÖĞRETİM ÜYESİ: DR. Öğretim Üyesi ESRA ÇELİK</a:t>
            </a:r>
          </a:p>
          <a:p>
            <a:r>
              <a:rPr lang="tr-TR" sz="1800" b="1" dirty="0"/>
              <a:t> </a:t>
            </a:r>
          </a:p>
          <a:p>
            <a:r>
              <a:rPr lang="tr-TR" sz="1800" b="1" dirty="0"/>
              <a:t>VERİ YAPISI ADI :LDS(LOCATİON DATA STUCTURE)</a:t>
            </a:r>
          </a:p>
          <a:p>
            <a:r>
              <a:rPr lang="tr-TR" sz="1800" dirty="0"/>
              <a:t>	</a:t>
            </a:r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04C111C5-6BA1-A3AE-CE47-60E779A84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4127" y="1471488"/>
            <a:ext cx="2514600" cy="25387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756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6BD28CF-8680-06A1-0A94-5CD1FB10690E}"/>
              </a:ext>
            </a:extLst>
          </p:cNvPr>
          <p:cNvSpPr txBox="1"/>
          <p:nvPr/>
        </p:nvSpPr>
        <p:spPr>
          <a:xfrm>
            <a:off x="1366685" y="619432"/>
            <a:ext cx="8721212" cy="4149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28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VERİ YAPISININ ADI 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LDS – </a:t>
            </a:r>
            <a:r>
              <a:rPr lang="tr-TR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Location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tr-TR" sz="2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</a:t>
            </a:r>
            <a:endParaRPr lang="tr-TR" sz="2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endParaRPr lang="tr-TR" sz="2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2800" b="1" dirty="0">
                <a:solidFill>
                  <a:schemeClr val="accent3">
                    <a:lumMod val="75000"/>
                  </a:schemeClr>
                </a:solidFill>
              </a:rPr>
              <a:t>Hibrit Veri Yapısı 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061460" algn="l"/>
              </a:tabLst>
            </a:pPr>
            <a:r>
              <a:rPr lang="tr-T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QUADTREE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061460" algn="l"/>
              </a:tabLst>
            </a:pPr>
            <a:r>
              <a:rPr lang="tr-TR" sz="2400" b="1" dirty="0">
                <a:solidFill>
                  <a:schemeClr val="tx1"/>
                </a:solidFill>
              </a:rPr>
              <a:t>K-D TREE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061460" algn="l"/>
              </a:tabLst>
            </a:pPr>
            <a:r>
              <a:rPr lang="tr-TR" sz="2400" b="1" dirty="0"/>
              <a:t>DİNAMİK DİZİ</a:t>
            </a:r>
            <a:endParaRPr lang="tr-TR" sz="2800" b="1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endParaRPr lang="tr-TR" sz="2800" b="1" kern="100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00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FC4ECF9C-F4B5-428D-1618-8C0EF4D4F035}"/>
              </a:ext>
            </a:extLst>
          </p:cNvPr>
          <p:cNvSpPr/>
          <p:nvPr/>
        </p:nvSpPr>
        <p:spPr>
          <a:xfrm>
            <a:off x="1302774" y="287594"/>
            <a:ext cx="9094838" cy="628281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C8AF5458-7CB8-980D-AF2E-B515890F6770}"/>
              </a:ext>
            </a:extLst>
          </p:cNvPr>
          <p:cNvSpPr txBox="1"/>
          <p:nvPr/>
        </p:nvSpPr>
        <p:spPr>
          <a:xfrm>
            <a:off x="1612490" y="609599"/>
            <a:ext cx="8327923" cy="525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QUADTREE</a:t>
            </a:r>
            <a:endParaRPr lang="tr-T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 yapar?</a:t>
            </a:r>
            <a:b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tr-T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Quadtree</a:t>
            </a: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 boyutlu bir alanı (harita gibi) 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 alt bölgeye</a:t>
            </a: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böler. Satıcıların konumları bu alt bölgelere dağıtılır. Bir bölgede çok satıcı birikirse, o bölge tekrar 4’e bölünebilir. Böylece yapı 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kademeli olarak</a:t>
            </a: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büyür.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Neden gerekli? (</a:t>
            </a:r>
            <a:r>
              <a:rPr lang="tr-TR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LDS’de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katkısı)</a:t>
            </a:r>
            <a:b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Konum tabanlı sorgularda tüm satıcıları tek tek kontrol etmek yerine: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Kullanıcının bulunduğu noktaya yakın 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bölge(</a:t>
            </a:r>
            <a:r>
              <a:rPr lang="tr-TR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ler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seçilir,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Sadece o bölgelerdeki satıcılara bakılır.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Kazanç</a:t>
            </a:r>
            <a:endParaRPr lang="tr-T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Arama alanı küçülür → hız artar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Yoğun bölgelerde performans daha stabil olur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“2 km içinde kim var?” gibi sorgular için uygundur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8233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36F05584-4C09-9821-1704-6B32A5A4A18C}"/>
              </a:ext>
            </a:extLst>
          </p:cNvPr>
          <p:cNvSpPr/>
          <p:nvPr/>
        </p:nvSpPr>
        <p:spPr>
          <a:xfrm>
            <a:off x="1396181" y="560439"/>
            <a:ext cx="9547122" cy="5397909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b="1" dirty="0">
                <a:solidFill>
                  <a:schemeClr val="tx1"/>
                </a:solidFill>
              </a:rPr>
              <a:t>K-D TREE :</a:t>
            </a:r>
          </a:p>
          <a:p>
            <a:r>
              <a:rPr lang="tr-TR" b="1" dirty="0">
                <a:solidFill>
                  <a:schemeClr val="tx1"/>
                </a:solidFill>
              </a:rPr>
              <a:t>Ne yapar?</a:t>
            </a:r>
            <a:br>
              <a:rPr lang="tr-TR" dirty="0">
                <a:solidFill>
                  <a:schemeClr val="tx1"/>
                </a:solidFill>
              </a:rPr>
            </a:br>
            <a:r>
              <a:rPr lang="tr-TR" dirty="0">
                <a:solidFill>
                  <a:schemeClr val="tx1"/>
                </a:solidFill>
              </a:rPr>
              <a:t>k-d </a:t>
            </a:r>
            <a:r>
              <a:rPr lang="tr-TR" dirty="0" err="1">
                <a:solidFill>
                  <a:schemeClr val="tx1"/>
                </a:solidFill>
              </a:rPr>
              <a:t>tree</a:t>
            </a:r>
            <a:r>
              <a:rPr lang="tr-TR" dirty="0">
                <a:solidFill>
                  <a:schemeClr val="tx1"/>
                </a:solidFill>
              </a:rPr>
              <a:t>, çok boyutlu noktalarda (bizde 2D: x-y) arama yapmak için kullanılan bir ağaçtır.</a:t>
            </a:r>
            <a:br>
              <a:rPr lang="tr-TR" dirty="0">
                <a:solidFill>
                  <a:schemeClr val="tx1"/>
                </a:solidFill>
              </a:rPr>
            </a:br>
            <a:r>
              <a:rPr lang="tr-TR" dirty="0">
                <a:solidFill>
                  <a:schemeClr val="tx1"/>
                </a:solidFill>
              </a:rPr>
              <a:t>Ağacın her seviyesinde:</a:t>
            </a:r>
            <a:endParaRPr lang="tr-TR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tr-TR" dirty="0">
                <a:solidFill>
                  <a:schemeClr val="tx1"/>
                </a:solidFill>
              </a:rPr>
              <a:t>bir seviye </a:t>
            </a:r>
            <a:r>
              <a:rPr lang="tr-TR" b="1" dirty="0">
                <a:solidFill>
                  <a:schemeClr val="tx1"/>
                </a:solidFill>
              </a:rPr>
              <a:t>x</a:t>
            </a:r>
            <a:r>
              <a:rPr lang="tr-TR" dirty="0">
                <a:solidFill>
                  <a:schemeClr val="tx1"/>
                </a:solidFill>
              </a:rPr>
              <a:t> koordinatına göre,</a:t>
            </a:r>
          </a:p>
          <a:p>
            <a:r>
              <a:rPr lang="tr-TR" dirty="0">
                <a:solidFill>
                  <a:schemeClr val="tx1"/>
                </a:solidFill>
              </a:rPr>
              <a:t>bir seviye </a:t>
            </a:r>
            <a:r>
              <a:rPr lang="tr-TR" b="1" dirty="0">
                <a:solidFill>
                  <a:schemeClr val="tx1"/>
                </a:solidFill>
              </a:rPr>
              <a:t>y</a:t>
            </a:r>
            <a:r>
              <a:rPr lang="tr-TR" dirty="0">
                <a:solidFill>
                  <a:schemeClr val="tx1"/>
                </a:solidFill>
              </a:rPr>
              <a:t> koordinatına göre</a:t>
            </a:r>
            <a:br>
              <a:rPr lang="tr-TR" dirty="0">
                <a:solidFill>
                  <a:schemeClr val="tx1"/>
                </a:solidFill>
              </a:rPr>
            </a:br>
            <a:r>
              <a:rPr lang="tr-TR" dirty="0">
                <a:solidFill>
                  <a:schemeClr val="tx1"/>
                </a:solidFill>
              </a:rPr>
              <a:t>bölme yapılır.</a:t>
            </a:r>
          </a:p>
          <a:p>
            <a:r>
              <a:rPr lang="tr-TR" b="1" dirty="0">
                <a:solidFill>
                  <a:schemeClr val="tx1"/>
                </a:solidFill>
              </a:rPr>
              <a:t>Neden gerekli? (</a:t>
            </a:r>
            <a:r>
              <a:rPr lang="tr-TR" b="1" dirty="0" err="1">
                <a:solidFill>
                  <a:schemeClr val="tx1"/>
                </a:solidFill>
              </a:rPr>
              <a:t>LDS’de</a:t>
            </a:r>
            <a:r>
              <a:rPr lang="tr-TR" b="1" dirty="0">
                <a:solidFill>
                  <a:schemeClr val="tx1"/>
                </a:solidFill>
              </a:rPr>
              <a:t> katkısı)</a:t>
            </a:r>
            <a:br>
              <a:rPr lang="tr-TR" dirty="0">
                <a:solidFill>
                  <a:schemeClr val="tx1"/>
                </a:solidFill>
              </a:rPr>
            </a:br>
            <a:r>
              <a:rPr lang="tr-TR" dirty="0" err="1">
                <a:solidFill>
                  <a:schemeClr val="tx1"/>
                </a:solidFill>
              </a:rPr>
              <a:t>Quadtree</a:t>
            </a:r>
            <a:r>
              <a:rPr lang="tr-TR" dirty="0">
                <a:solidFill>
                  <a:schemeClr val="tx1"/>
                </a:solidFill>
              </a:rPr>
              <a:t> “hangi bölgede </a:t>
            </a:r>
            <a:r>
              <a:rPr lang="tr-TR" dirty="0" err="1">
                <a:solidFill>
                  <a:schemeClr val="tx1"/>
                </a:solidFill>
              </a:rPr>
              <a:t>arayacağım?”ı</a:t>
            </a:r>
            <a:r>
              <a:rPr lang="tr-TR" dirty="0">
                <a:solidFill>
                  <a:schemeClr val="tx1"/>
                </a:solidFill>
              </a:rPr>
              <a:t> bulur ama </a:t>
            </a:r>
            <a:r>
              <a:rPr lang="tr-TR" b="1" dirty="0">
                <a:solidFill>
                  <a:schemeClr val="tx1"/>
                </a:solidFill>
              </a:rPr>
              <a:t>bölgenin içinde en yakını</a:t>
            </a:r>
            <a:r>
              <a:rPr lang="tr-TR" dirty="0">
                <a:solidFill>
                  <a:schemeClr val="tx1"/>
                </a:solidFill>
              </a:rPr>
              <a:t> bulmak için daha iyi bir yapıya ihtiyaç olur. İşte burada k-d </a:t>
            </a:r>
            <a:r>
              <a:rPr lang="tr-TR" dirty="0" err="1">
                <a:solidFill>
                  <a:schemeClr val="tx1"/>
                </a:solidFill>
              </a:rPr>
              <a:t>tree</a:t>
            </a:r>
            <a:r>
              <a:rPr lang="tr-TR" dirty="0">
                <a:solidFill>
                  <a:schemeClr val="tx1"/>
                </a:solidFill>
              </a:rPr>
              <a:t> devreye girer.</a:t>
            </a:r>
          </a:p>
          <a:p>
            <a:r>
              <a:rPr lang="tr-TR" b="1" dirty="0">
                <a:solidFill>
                  <a:schemeClr val="tx1"/>
                </a:solidFill>
              </a:rPr>
              <a:t>Kazanç</a:t>
            </a:r>
            <a:endParaRPr lang="tr-TR" dirty="0">
              <a:solidFill>
                <a:schemeClr val="tx1"/>
              </a:solidFill>
            </a:endParaRPr>
          </a:p>
          <a:p>
            <a:r>
              <a:rPr lang="tr-TR" dirty="0">
                <a:solidFill>
                  <a:schemeClr val="tx1"/>
                </a:solidFill>
              </a:rPr>
              <a:t>Bölge içindeki “en yakın satıcı” veya “en yakın 5 satıcı” gibi sorgular hızlanır</a:t>
            </a:r>
          </a:p>
          <a:p>
            <a:r>
              <a:rPr lang="tr-TR" dirty="0">
                <a:solidFill>
                  <a:schemeClr val="tx1"/>
                </a:solidFill>
              </a:rPr>
              <a:t>Ortalama durumda </a:t>
            </a:r>
            <a:r>
              <a:rPr lang="tr-TR" b="1" dirty="0">
                <a:solidFill>
                  <a:schemeClr val="tx1"/>
                </a:solidFill>
              </a:rPr>
              <a:t>O(log n)</a:t>
            </a:r>
            <a:r>
              <a:rPr lang="tr-TR" dirty="0">
                <a:solidFill>
                  <a:schemeClr val="tx1"/>
                </a:solidFill>
              </a:rPr>
              <a:t> civarında çalışabilir</a:t>
            </a:r>
          </a:p>
          <a:p>
            <a:r>
              <a:rPr lang="tr-TR" dirty="0">
                <a:solidFill>
                  <a:schemeClr val="tx1"/>
                </a:solidFill>
              </a:rPr>
              <a:t>Doğrudan “</a:t>
            </a:r>
            <a:r>
              <a:rPr lang="tr-TR" dirty="0" err="1">
                <a:solidFill>
                  <a:schemeClr val="tx1"/>
                </a:solidFill>
              </a:rPr>
              <a:t>nearest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neighbour</a:t>
            </a:r>
            <a:r>
              <a:rPr lang="tr-TR" dirty="0">
                <a:solidFill>
                  <a:schemeClr val="tx1"/>
                </a:solidFill>
              </a:rPr>
              <a:t>” problemini hedefler</a:t>
            </a:r>
          </a:p>
          <a:p>
            <a:r>
              <a:rPr lang="tr-TR" b="1" dirty="0" err="1">
                <a:solidFill>
                  <a:schemeClr val="tx1"/>
                </a:solidFill>
              </a:rPr>
              <a:t>LDS’de</a:t>
            </a:r>
            <a:r>
              <a:rPr lang="tr-TR" b="1" dirty="0">
                <a:solidFill>
                  <a:schemeClr val="tx1"/>
                </a:solidFill>
              </a:rPr>
              <a:t> rolü</a:t>
            </a:r>
            <a:br>
              <a:rPr lang="tr-TR" dirty="0">
                <a:solidFill>
                  <a:schemeClr val="tx1"/>
                </a:solidFill>
              </a:rPr>
            </a:br>
            <a:r>
              <a:rPr lang="tr-TR" i="1" dirty="0">
                <a:solidFill>
                  <a:schemeClr val="tx1"/>
                </a:solidFill>
              </a:rPr>
              <a:t>“Bu bölgede kime daha yakınım?”</a:t>
            </a:r>
            <a:r>
              <a:rPr lang="tr-TR" dirty="0">
                <a:solidFill>
                  <a:schemeClr val="tx1"/>
                </a:solidFill>
              </a:rPr>
              <a:t> sorusunu çözer.</a:t>
            </a:r>
            <a:br>
              <a:rPr lang="tr-TR" dirty="0">
                <a:solidFill>
                  <a:schemeClr val="tx1"/>
                </a:solidFill>
              </a:rPr>
            </a:br>
            <a:r>
              <a:rPr lang="tr-TR" dirty="0" err="1">
                <a:solidFill>
                  <a:schemeClr val="tx1"/>
                </a:solidFill>
              </a:rPr>
              <a:t>Quadtree’den</a:t>
            </a:r>
            <a:r>
              <a:rPr lang="tr-TR" dirty="0">
                <a:solidFill>
                  <a:schemeClr val="tx1"/>
                </a:solidFill>
              </a:rPr>
              <a:t> gelen aday bölgelerde, satıcıları k-d </a:t>
            </a:r>
            <a:r>
              <a:rPr lang="tr-TR" dirty="0" err="1">
                <a:solidFill>
                  <a:schemeClr val="tx1"/>
                </a:solidFill>
              </a:rPr>
              <a:t>tree</a:t>
            </a:r>
            <a:r>
              <a:rPr lang="tr-TR" dirty="0">
                <a:solidFill>
                  <a:schemeClr val="tx1"/>
                </a:solidFill>
              </a:rPr>
              <a:t> ile hızlıca yakınlığa göre ararız</a:t>
            </a:r>
          </a:p>
        </p:txBody>
      </p:sp>
    </p:spTree>
    <p:extLst>
      <p:ext uri="{BB962C8B-B14F-4D97-AF65-F5344CB8AC3E}">
        <p14:creationId xmlns:p14="http://schemas.microsoft.com/office/powerpoint/2010/main" val="348651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480EB43C-CA82-F7AA-8428-5E503AC7A565}"/>
              </a:ext>
            </a:extLst>
          </p:cNvPr>
          <p:cNvSpPr/>
          <p:nvPr/>
        </p:nvSpPr>
        <p:spPr>
          <a:xfrm>
            <a:off x="1320800" y="469047"/>
            <a:ext cx="8991600" cy="550503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E542C0C7-E4A5-CCA3-66A3-377B9C07F857}"/>
              </a:ext>
            </a:extLst>
          </p:cNvPr>
          <p:cNvSpPr txBox="1"/>
          <p:nvPr/>
        </p:nvSpPr>
        <p:spPr>
          <a:xfrm>
            <a:off x="1767840" y="682406"/>
            <a:ext cx="7823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Dinamik Dizi (</a:t>
            </a:r>
            <a:r>
              <a:rPr lang="tr-TR" b="1" dirty="0" err="1"/>
              <a:t>Vector</a:t>
            </a:r>
            <a:r>
              <a:rPr lang="tr-TR" b="1" dirty="0"/>
              <a:t>) – Skor ve Seçim Yapısı</a:t>
            </a:r>
            <a:endParaRPr lang="tr-TR" dirty="0"/>
          </a:p>
          <a:p>
            <a:r>
              <a:rPr lang="tr-TR" b="1" dirty="0"/>
              <a:t>Ne yapar?</a:t>
            </a:r>
            <a:endParaRPr lang="tr-TR" dirty="0"/>
          </a:p>
          <a:p>
            <a:r>
              <a:rPr lang="tr-TR" dirty="0"/>
              <a:t>Dinamik dizi (</a:t>
            </a:r>
            <a:r>
              <a:rPr lang="tr-TR" dirty="0" err="1"/>
              <a:t>vector</a:t>
            </a:r>
            <a:r>
              <a:rPr lang="tr-TR" dirty="0"/>
              <a:t>), </a:t>
            </a:r>
            <a:r>
              <a:rPr lang="tr-TR" b="1" dirty="0"/>
              <a:t>k-d </a:t>
            </a:r>
            <a:r>
              <a:rPr lang="tr-TR" b="1" dirty="0" err="1"/>
              <a:t>tree’den</a:t>
            </a:r>
            <a:r>
              <a:rPr lang="tr-TR" b="1" dirty="0"/>
              <a:t> gelen sınırlı sayıdaki aday satıcıları</a:t>
            </a:r>
            <a:r>
              <a:rPr lang="tr-TR" dirty="0"/>
              <a:t> tutmak için kullanılır.</a:t>
            </a:r>
            <a:br>
              <a:rPr lang="tr-TR" dirty="0"/>
            </a:br>
            <a:r>
              <a:rPr lang="tr-TR" dirty="0"/>
              <a:t>Bu yapı, eleman sayısı önceden bilinmeyen durumlarda </a:t>
            </a:r>
            <a:r>
              <a:rPr lang="tr-TR" b="1" dirty="0"/>
              <a:t>esnek bir depolama alanı</a:t>
            </a:r>
            <a:r>
              <a:rPr lang="tr-TR" dirty="0"/>
              <a:t> sağlar.</a:t>
            </a:r>
          </a:p>
          <a:p>
            <a:r>
              <a:rPr lang="tr-TR" dirty="0"/>
              <a:t>Aday satıcılar diziye </a:t>
            </a:r>
            <a:r>
              <a:rPr lang="tr-TR" b="1" dirty="0" err="1"/>
              <a:t>push_back</a:t>
            </a:r>
            <a:r>
              <a:rPr lang="tr-TR" b="1" dirty="0"/>
              <a:t>()</a:t>
            </a:r>
            <a:r>
              <a:rPr lang="tr-TR" dirty="0"/>
              <a:t> ile eklenir ve dizi gerektiğinde </a:t>
            </a:r>
            <a:r>
              <a:rPr lang="tr-TR" b="1" dirty="0"/>
              <a:t>otomatik olarak büyür</a:t>
            </a:r>
            <a:r>
              <a:rPr lang="tr-TR" dirty="0"/>
              <a:t>.</a:t>
            </a:r>
            <a:br>
              <a:rPr lang="tr-TR" dirty="0"/>
            </a:br>
            <a:endParaRPr lang="tr-TR" dirty="0"/>
          </a:p>
          <a:p>
            <a:r>
              <a:rPr lang="tr-TR" b="1" dirty="0"/>
              <a:t>Neden gerekli? (</a:t>
            </a:r>
            <a:r>
              <a:rPr lang="tr-TR" b="1" dirty="0" err="1"/>
              <a:t>LDS’de</a:t>
            </a:r>
            <a:r>
              <a:rPr lang="tr-TR" b="1" dirty="0"/>
              <a:t> katkısı)</a:t>
            </a:r>
            <a:endParaRPr lang="tr-TR" dirty="0"/>
          </a:p>
          <a:p>
            <a:r>
              <a:rPr lang="tr-TR" dirty="0" err="1"/>
              <a:t>Quadtree</a:t>
            </a:r>
            <a:r>
              <a:rPr lang="tr-TR" dirty="0"/>
              <a:t> ve k-d </a:t>
            </a:r>
            <a:r>
              <a:rPr lang="tr-TR" dirty="0" err="1"/>
              <a:t>tree</a:t>
            </a:r>
            <a:r>
              <a:rPr lang="tr-TR" dirty="0"/>
              <a:t> yalnızca adayları daraltır; ancak “en uygun” satıcıyı seçmez.</a:t>
            </a:r>
          </a:p>
          <a:p>
            <a:r>
              <a:rPr lang="tr-TR" dirty="0"/>
              <a:t>Bu noktada:</a:t>
            </a:r>
          </a:p>
          <a:p>
            <a:pPr lvl="0"/>
            <a:r>
              <a:rPr lang="tr-TR" dirty="0"/>
              <a:t>Mesafe</a:t>
            </a:r>
          </a:p>
          <a:p>
            <a:pPr lvl="0"/>
            <a:r>
              <a:rPr lang="tr-TR" dirty="0"/>
              <a:t>Puan</a:t>
            </a:r>
          </a:p>
          <a:p>
            <a:pPr lvl="0"/>
            <a:r>
              <a:rPr lang="tr-TR" dirty="0"/>
              <a:t>Teslimat süresi</a:t>
            </a:r>
          </a:p>
          <a:p>
            <a:r>
              <a:rPr lang="tr-TR" dirty="0"/>
              <a:t>gibi birden fazla kriterin birlikte değerlendirilmesi gerekir. Dinamik dizi bu işlemler için </a:t>
            </a:r>
            <a:r>
              <a:rPr lang="tr-TR" b="1" dirty="0"/>
              <a:t>en sade ve kontrol edilebilir yapıyı</a:t>
            </a:r>
            <a:r>
              <a:rPr lang="tr-TR" dirty="0"/>
              <a:t> sunar.</a:t>
            </a:r>
          </a:p>
        </p:txBody>
      </p:sp>
    </p:spTree>
    <p:extLst>
      <p:ext uri="{BB962C8B-B14F-4D97-AF65-F5344CB8AC3E}">
        <p14:creationId xmlns:p14="http://schemas.microsoft.com/office/powerpoint/2010/main" val="2026601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7CA52809-70FB-E769-B139-5AB6FE899729}"/>
              </a:ext>
            </a:extLst>
          </p:cNvPr>
          <p:cNvSpPr/>
          <p:nvPr/>
        </p:nvSpPr>
        <p:spPr>
          <a:xfrm>
            <a:off x="4795158" y="237802"/>
            <a:ext cx="2595716" cy="64109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accent3">
                    <a:lumMod val="50000"/>
                  </a:schemeClr>
                </a:solidFill>
              </a:rPr>
              <a:t>HARİTA</a:t>
            </a:r>
          </a:p>
        </p:txBody>
      </p:sp>
      <p:cxnSp>
        <p:nvCxnSpPr>
          <p:cNvPr id="3" name="Düz Bağlayıcı 2">
            <a:extLst>
              <a:ext uri="{FF2B5EF4-FFF2-40B4-BE49-F238E27FC236}">
                <a16:creationId xmlns:a16="http://schemas.microsoft.com/office/drawing/2014/main" id="{856DF925-68B2-2060-5BB0-7B059D14796A}"/>
              </a:ext>
            </a:extLst>
          </p:cNvPr>
          <p:cNvCxnSpPr>
            <a:cxnSpLocks/>
          </p:cNvCxnSpPr>
          <p:nvPr/>
        </p:nvCxnSpPr>
        <p:spPr>
          <a:xfrm>
            <a:off x="1483619" y="1359978"/>
            <a:ext cx="9517626" cy="6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k: Aşağı 3">
            <a:extLst>
              <a:ext uri="{FF2B5EF4-FFF2-40B4-BE49-F238E27FC236}">
                <a16:creationId xmlns:a16="http://schemas.microsoft.com/office/drawing/2014/main" id="{E7775701-7487-8ACE-0E6A-BF6BF7FABEFE}"/>
              </a:ext>
            </a:extLst>
          </p:cNvPr>
          <p:cNvSpPr/>
          <p:nvPr/>
        </p:nvSpPr>
        <p:spPr>
          <a:xfrm flipH="1">
            <a:off x="5919019" y="878898"/>
            <a:ext cx="323413" cy="490466"/>
          </a:xfrm>
          <a:prstGeom prst="downArrow">
            <a:avLst>
              <a:gd name="adj1" fmla="val 23678"/>
              <a:gd name="adj2" fmla="val 50000"/>
            </a:avLst>
          </a:prstGeom>
          <a:solidFill>
            <a:schemeClr val="bg2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AC9D7821-8ED7-86E6-26F3-DE916C96B096}"/>
              </a:ext>
            </a:extLst>
          </p:cNvPr>
          <p:cNvSpPr/>
          <p:nvPr/>
        </p:nvSpPr>
        <p:spPr>
          <a:xfrm>
            <a:off x="948636" y="1927048"/>
            <a:ext cx="1913968" cy="250930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0CF5827B-0D9C-6E86-0173-AACDA15388CE}"/>
              </a:ext>
            </a:extLst>
          </p:cNvPr>
          <p:cNvSpPr/>
          <p:nvPr/>
        </p:nvSpPr>
        <p:spPr>
          <a:xfrm>
            <a:off x="3517112" y="1876213"/>
            <a:ext cx="1913968" cy="256013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357E9442-45F3-0FAF-B5CC-8C4D695CA39E}"/>
              </a:ext>
            </a:extLst>
          </p:cNvPr>
          <p:cNvSpPr/>
          <p:nvPr/>
        </p:nvSpPr>
        <p:spPr>
          <a:xfrm>
            <a:off x="9049423" y="1893482"/>
            <a:ext cx="1913968" cy="256013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188E822-B0AA-EE8D-E27C-8C40808289E2}"/>
              </a:ext>
            </a:extLst>
          </p:cNvPr>
          <p:cNvSpPr/>
          <p:nvPr/>
        </p:nvSpPr>
        <p:spPr>
          <a:xfrm>
            <a:off x="6433890" y="1927048"/>
            <a:ext cx="1913968" cy="25028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8FBB1A-7998-B044-E9D5-B57EFC540B48}"/>
              </a:ext>
            </a:extLst>
          </p:cNvPr>
          <p:cNvSpPr/>
          <p:nvPr/>
        </p:nvSpPr>
        <p:spPr>
          <a:xfrm>
            <a:off x="1496756" y="2099294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A4481D-9A75-C971-C8AC-6C53575D44F7}"/>
              </a:ext>
            </a:extLst>
          </p:cNvPr>
          <p:cNvSpPr/>
          <p:nvPr/>
        </p:nvSpPr>
        <p:spPr>
          <a:xfrm>
            <a:off x="1952286" y="3160090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F4FC62C-0378-1EF8-FC4A-31FEF1C679EF}"/>
              </a:ext>
            </a:extLst>
          </p:cNvPr>
          <p:cNvSpPr/>
          <p:nvPr/>
        </p:nvSpPr>
        <p:spPr>
          <a:xfrm>
            <a:off x="1018981" y="3172690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F58745-63CC-A6C6-CAE1-0991B8890778}"/>
              </a:ext>
            </a:extLst>
          </p:cNvPr>
          <p:cNvSpPr/>
          <p:nvPr/>
        </p:nvSpPr>
        <p:spPr>
          <a:xfrm>
            <a:off x="4077015" y="1995061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1B6E79-3806-FAD6-EEE2-7159AA92A4EC}"/>
              </a:ext>
            </a:extLst>
          </p:cNvPr>
          <p:cNvSpPr/>
          <p:nvPr/>
        </p:nvSpPr>
        <p:spPr>
          <a:xfrm>
            <a:off x="3504131" y="3077080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94F63C1-062F-0AEC-E9B3-CB5AC4755544}"/>
              </a:ext>
            </a:extLst>
          </p:cNvPr>
          <p:cNvSpPr/>
          <p:nvPr/>
        </p:nvSpPr>
        <p:spPr>
          <a:xfrm>
            <a:off x="4479309" y="3057416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8D3EF1E-749F-775C-4A69-83757EF2FCB8}"/>
              </a:ext>
            </a:extLst>
          </p:cNvPr>
          <p:cNvSpPr/>
          <p:nvPr/>
        </p:nvSpPr>
        <p:spPr>
          <a:xfrm>
            <a:off x="7081299" y="2126401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4B2134-275B-D00B-FB67-12C9E2CD3997}"/>
              </a:ext>
            </a:extLst>
          </p:cNvPr>
          <p:cNvSpPr/>
          <p:nvPr/>
        </p:nvSpPr>
        <p:spPr>
          <a:xfrm>
            <a:off x="6585494" y="3211235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9B77516-9F47-7141-26AC-135F7709545F}"/>
              </a:ext>
            </a:extLst>
          </p:cNvPr>
          <p:cNvSpPr/>
          <p:nvPr/>
        </p:nvSpPr>
        <p:spPr>
          <a:xfrm>
            <a:off x="7517484" y="3207536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8990316-F86B-45C3-FFC0-DB364F4D7C4E}"/>
              </a:ext>
            </a:extLst>
          </p:cNvPr>
          <p:cNvSpPr/>
          <p:nvPr/>
        </p:nvSpPr>
        <p:spPr>
          <a:xfrm>
            <a:off x="9603717" y="2159927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813E14A-C807-6E7D-7C00-64DAA6E6140B}"/>
              </a:ext>
            </a:extLst>
          </p:cNvPr>
          <p:cNvSpPr/>
          <p:nvPr/>
        </p:nvSpPr>
        <p:spPr>
          <a:xfrm>
            <a:off x="9071674" y="3206048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B51905C-D5A6-F9D4-8EA6-8BC83EF708FA}"/>
              </a:ext>
            </a:extLst>
          </p:cNvPr>
          <p:cNvSpPr/>
          <p:nvPr/>
        </p:nvSpPr>
        <p:spPr>
          <a:xfrm>
            <a:off x="10108357" y="3222188"/>
            <a:ext cx="805380" cy="397908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1" name="Ok: Aşağı 20">
            <a:extLst>
              <a:ext uri="{FF2B5EF4-FFF2-40B4-BE49-F238E27FC236}">
                <a16:creationId xmlns:a16="http://schemas.microsoft.com/office/drawing/2014/main" id="{6379CBCB-A6CD-6B9E-DA46-5ED0789FCAB9}"/>
              </a:ext>
            </a:extLst>
          </p:cNvPr>
          <p:cNvSpPr/>
          <p:nvPr/>
        </p:nvSpPr>
        <p:spPr>
          <a:xfrm flipH="1">
            <a:off x="1764002" y="1349417"/>
            <a:ext cx="178004" cy="535256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7" name="Düz Ok Bağlayıcısı 26">
            <a:extLst>
              <a:ext uri="{FF2B5EF4-FFF2-40B4-BE49-F238E27FC236}">
                <a16:creationId xmlns:a16="http://schemas.microsoft.com/office/drawing/2014/main" id="{F8212F83-1A24-F1CC-D665-75663CCFC09C}"/>
              </a:ext>
            </a:extLst>
          </p:cNvPr>
          <p:cNvCxnSpPr>
            <a:endCxn id="11" idx="0"/>
          </p:cNvCxnSpPr>
          <p:nvPr/>
        </p:nvCxnSpPr>
        <p:spPr>
          <a:xfrm flipH="1">
            <a:off x="1421671" y="2524726"/>
            <a:ext cx="402690" cy="64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>
            <a:extLst>
              <a:ext uri="{FF2B5EF4-FFF2-40B4-BE49-F238E27FC236}">
                <a16:creationId xmlns:a16="http://schemas.microsoft.com/office/drawing/2014/main" id="{7D8B79EA-7A3A-EE47-2251-75075C7F357F}"/>
              </a:ext>
            </a:extLst>
          </p:cNvPr>
          <p:cNvCxnSpPr/>
          <p:nvPr/>
        </p:nvCxnSpPr>
        <p:spPr>
          <a:xfrm flipH="1">
            <a:off x="9474364" y="2542371"/>
            <a:ext cx="402690" cy="64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>
            <a:extLst>
              <a:ext uri="{FF2B5EF4-FFF2-40B4-BE49-F238E27FC236}">
                <a16:creationId xmlns:a16="http://schemas.microsoft.com/office/drawing/2014/main" id="{690093D5-94F6-1517-6B22-5FE3EE76E210}"/>
              </a:ext>
            </a:extLst>
          </p:cNvPr>
          <p:cNvCxnSpPr/>
          <p:nvPr/>
        </p:nvCxnSpPr>
        <p:spPr>
          <a:xfrm flipH="1">
            <a:off x="6977251" y="2541940"/>
            <a:ext cx="402690" cy="64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Ok Bağlayıcısı 29">
            <a:extLst>
              <a:ext uri="{FF2B5EF4-FFF2-40B4-BE49-F238E27FC236}">
                <a16:creationId xmlns:a16="http://schemas.microsoft.com/office/drawing/2014/main" id="{0A77797E-C6F8-D3F2-35AB-BBCBAABD014C}"/>
              </a:ext>
            </a:extLst>
          </p:cNvPr>
          <p:cNvCxnSpPr/>
          <p:nvPr/>
        </p:nvCxnSpPr>
        <p:spPr>
          <a:xfrm flipH="1">
            <a:off x="3953162" y="2429937"/>
            <a:ext cx="402690" cy="64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>
            <a:extLst>
              <a:ext uri="{FF2B5EF4-FFF2-40B4-BE49-F238E27FC236}">
                <a16:creationId xmlns:a16="http://schemas.microsoft.com/office/drawing/2014/main" id="{86AF3206-F33F-81CD-6336-ED1196AF6671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995702" y="2483541"/>
            <a:ext cx="359274" cy="676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>
            <a:extLst>
              <a:ext uri="{FF2B5EF4-FFF2-40B4-BE49-F238E27FC236}">
                <a16:creationId xmlns:a16="http://schemas.microsoft.com/office/drawing/2014/main" id="{E81D176A-8721-5922-31C1-026313760418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10120625" y="2569228"/>
            <a:ext cx="390422" cy="65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>
            <a:extLst>
              <a:ext uri="{FF2B5EF4-FFF2-40B4-BE49-F238E27FC236}">
                <a16:creationId xmlns:a16="http://schemas.microsoft.com/office/drawing/2014/main" id="{507B603D-35CE-1E5C-DC06-5D17C91C2F85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600037" y="2321380"/>
            <a:ext cx="281962" cy="736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>
            <a:extLst>
              <a:ext uri="{FF2B5EF4-FFF2-40B4-BE49-F238E27FC236}">
                <a16:creationId xmlns:a16="http://schemas.microsoft.com/office/drawing/2014/main" id="{CA8644E4-71CE-EB4B-E5AE-7D4EE13C9288}"/>
              </a:ext>
            </a:extLst>
          </p:cNvPr>
          <p:cNvCxnSpPr>
            <a:cxnSpLocks/>
          </p:cNvCxnSpPr>
          <p:nvPr/>
        </p:nvCxnSpPr>
        <p:spPr>
          <a:xfrm>
            <a:off x="7603580" y="2545580"/>
            <a:ext cx="325253" cy="659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>
            <a:extLst>
              <a:ext uri="{FF2B5EF4-FFF2-40B4-BE49-F238E27FC236}">
                <a16:creationId xmlns:a16="http://schemas.microsoft.com/office/drawing/2014/main" id="{1454022C-A60E-200D-C1F3-4B83AC1574DA}"/>
              </a:ext>
            </a:extLst>
          </p:cNvPr>
          <p:cNvSpPr/>
          <p:nvPr/>
        </p:nvSpPr>
        <p:spPr>
          <a:xfrm>
            <a:off x="3953161" y="5015013"/>
            <a:ext cx="4207613" cy="82816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31" name="Düz Bağlayıcı 30">
            <a:extLst>
              <a:ext uri="{FF2B5EF4-FFF2-40B4-BE49-F238E27FC236}">
                <a16:creationId xmlns:a16="http://schemas.microsoft.com/office/drawing/2014/main" id="{0F288785-1DAF-E2B2-7B47-6CD792B37DEA}"/>
              </a:ext>
            </a:extLst>
          </p:cNvPr>
          <p:cNvCxnSpPr/>
          <p:nvPr/>
        </p:nvCxnSpPr>
        <p:spPr>
          <a:xfrm>
            <a:off x="4505132" y="4996998"/>
            <a:ext cx="0" cy="82816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Bağlayıcı 32">
            <a:extLst>
              <a:ext uri="{FF2B5EF4-FFF2-40B4-BE49-F238E27FC236}">
                <a16:creationId xmlns:a16="http://schemas.microsoft.com/office/drawing/2014/main" id="{AF4DD6C6-8A35-A1EA-B0D7-BBC7629B6BD9}"/>
              </a:ext>
            </a:extLst>
          </p:cNvPr>
          <p:cNvCxnSpPr/>
          <p:nvPr/>
        </p:nvCxnSpPr>
        <p:spPr>
          <a:xfrm>
            <a:off x="5009853" y="4996998"/>
            <a:ext cx="0" cy="82816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Düz Bağlayıcı 40">
            <a:extLst>
              <a:ext uri="{FF2B5EF4-FFF2-40B4-BE49-F238E27FC236}">
                <a16:creationId xmlns:a16="http://schemas.microsoft.com/office/drawing/2014/main" id="{90399DE2-B1F9-A9E4-8C46-56C945E13A34}"/>
              </a:ext>
            </a:extLst>
          </p:cNvPr>
          <p:cNvCxnSpPr/>
          <p:nvPr/>
        </p:nvCxnSpPr>
        <p:spPr>
          <a:xfrm>
            <a:off x="5550572" y="5015013"/>
            <a:ext cx="0" cy="82816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Düz Bağlayıcı 41">
            <a:extLst>
              <a:ext uri="{FF2B5EF4-FFF2-40B4-BE49-F238E27FC236}">
                <a16:creationId xmlns:a16="http://schemas.microsoft.com/office/drawing/2014/main" id="{898B197C-F74D-23C8-4E21-CFA1725BCBF2}"/>
              </a:ext>
            </a:extLst>
          </p:cNvPr>
          <p:cNvCxnSpPr/>
          <p:nvPr/>
        </p:nvCxnSpPr>
        <p:spPr>
          <a:xfrm>
            <a:off x="6096000" y="5015013"/>
            <a:ext cx="0" cy="82816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Düz Bağlayıcı 42">
            <a:extLst>
              <a:ext uri="{FF2B5EF4-FFF2-40B4-BE49-F238E27FC236}">
                <a16:creationId xmlns:a16="http://schemas.microsoft.com/office/drawing/2014/main" id="{7B87E874-3F50-21F0-FB86-8F86452A3E76}"/>
              </a:ext>
            </a:extLst>
          </p:cNvPr>
          <p:cNvCxnSpPr/>
          <p:nvPr/>
        </p:nvCxnSpPr>
        <p:spPr>
          <a:xfrm>
            <a:off x="6585494" y="5015013"/>
            <a:ext cx="0" cy="82816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Düz Bağlayıcı 44">
            <a:extLst>
              <a:ext uri="{FF2B5EF4-FFF2-40B4-BE49-F238E27FC236}">
                <a16:creationId xmlns:a16="http://schemas.microsoft.com/office/drawing/2014/main" id="{23F70F2C-11BD-D478-9FEE-A7CC6FEA7FA7}"/>
              </a:ext>
            </a:extLst>
          </p:cNvPr>
          <p:cNvCxnSpPr/>
          <p:nvPr/>
        </p:nvCxnSpPr>
        <p:spPr>
          <a:xfrm>
            <a:off x="7589909" y="5015013"/>
            <a:ext cx="0" cy="82816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Düz Bağlayıcı 45">
            <a:extLst>
              <a:ext uri="{FF2B5EF4-FFF2-40B4-BE49-F238E27FC236}">
                <a16:creationId xmlns:a16="http://schemas.microsoft.com/office/drawing/2014/main" id="{064A2DCC-D8BD-E912-41A9-62382F31F76F}"/>
              </a:ext>
            </a:extLst>
          </p:cNvPr>
          <p:cNvCxnSpPr/>
          <p:nvPr/>
        </p:nvCxnSpPr>
        <p:spPr>
          <a:xfrm>
            <a:off x="7081299" y="4996998"/>
            <a:ext cx="0" cy="82816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k: Aşağı 62">
            <a:extLst>
              <a:ext uri="{FF2B5EF4-FFF2-40B4-BE49-F238E27FC236}">
                <a16:creationId xmlns:a16="http://schemas.microsoft.com/office/drawing/2014/main" id="{9B8C2FFF-C849-75D0-E1A3-B1D90FFD842F}"/>
              </a:ext>
            </a:extLst>
          </p:cNvPr>
          <p:cNvSpPr/>
          <p:nvPr/>
        </p:nvSpPr>
        <p:spPr>
          <a:xfrm flipH="1">
            <a:off x="4335943" y="1363728"/>
            <a:ext cx="178004" cy="535256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4" name="Ok: Aşağı 63">
            <a:extLst>
              <a:ext uri="{FF2B5EF4-FFF2-40B4-BE49-F238E27FC236}">
                <a16:creationId xmlns:a16="http://schemas.microsoft.com/office/drawing/2014/main" id="{8C485489-83EB-D767-4844-C58A083FD4ED}"/>
              </a:ext>
            </a:extLst>
          </p:cNvPr>
          <p:cNvSpPr/>
          <p:nvPr/>
        </p:nvSpPr>
        <p:spPr>
          <a:xfrm flipH="1">
            <a:off x="9930353" y="1381691"/>
            <a:ext cx="178004" cy="535256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5" name="Ok: Aşağı 64">
            <a:extLst>
              <a:ext uri="{FF2B5EF4-FFF2-40B4-BE49-F238E27FC236}">
                <a16:creationId xmlns:a16="http://schemas.microsoft.com/office/drawing/2014/main" id="{D5F6BB61-F813-4540-098D-120BBF329B09}"/>
              </a:ext>
            </a:extLst>
          </p:cNvPr>
          <p:cNvSpPr/>
          <p:nvPr/>
        </p:nvSpPr>
        <p:spPr>
          <a:xfrm flipH="1">
            <a:off x="7394987" y="1360437"/>
            <a:ext cx="178004" cy="535256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2344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B49A856E-359C-5B49-EBED-4C1350CA2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737" y="2332038"/>
            <a:ext cx="3306763" cy="60318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YENİ SATICI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X,y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kumimoji="0" lang="tr-TR" altLang="tr-TR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3" name="Düz Ok Bağlayıcısı 2">
            <a:extLst>
              <a:ext uri="{FF2B5EF4-FFF2-40B4-BE49-F238E27FC236}">
                <a16:creationId xmlns:a16="http://schemas.microsoft.com/office/drawing/2014/main" id="{CBC0AB77-C119-9EEF-B876-CA3C1BD5200A}"/>
              </a:ext>
            </a:extLst>
          </p:cNvPr>
          <p:cNvCxnSpPr>
            <a:cxnSpLocks/>
          </p:cNvCxnSpPr>
          <p:nvPr/>
        </p:nvCxnSpPr>
        <p:spPr>
          <a:xfrm>
            <a:off x="2699379" y="2935221"/>
            <a:ext cx="0" cy="518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7394B667-45D4-C6FC-8082-B66E8259AADF}"/>
              </a:ext>
            </a:extLst>
          </p:cNvPr>
          <p:cNvSpPr/>
          <p:nvPr/>
        </p:nvSpPr>
        <p:spPr>
          <a:xfrm>
            <a:off x="1880870" y="3482591"/>
            <a:ext cx="1783080" cy="74320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tr-TR" sz="1200" dirty="0"/>
              <a:t>BÖLGE İ SEÇİLDİ</a:t>
            </a:r>
          </a:p>
        </p:txBody>
      </p:sp>
      <p:cxnSp>
        <p:nvCxnSpPr>
          <p:cNvPr id="5" name="Düz Ok Bağlayıcısı 4">
            <a:extLst>
              <a:ext uri="{FF2B5EF4-FFF2-40B4-BE49-F238E27FC236}">
                <a16:creationId xmlns:a16="http://schemas.microsoft.com/office/drawing/2014/main" id="{361A77C5-06FF-C61A-E839-8410AB7BE69B}"/>
              </a:ext>
            </a:extLst>
          </p:cNvPr>
          <p:cNvCxnSpPr>
            <a:cxnSpLocks/>
          </p:cNvCxnSpPr>
          <p:nvPr/>
        </p:nvCxnSpPr>
        <p:spPr>
          <a:xfrm>
            <a:off x="2720973" y="4051412"/>
            <a:ext cx="17145" cy="569749"/>
          </a:xfrm>
          <a:prstGeom prst="straightConnector1">
            <a:avLst/>
          </a:prstGeom>
          <a:noFill/>
          <a:ln w="635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118FBB1A-7998-B044-E9D5-B57EFC540B48}"/>
              </a:ext>
            </a:extLst>
          </p:cNvPr>
          <p:cNvSpPr/>
          <p:nvPr/>
        </p:nvSpPr>
        <p:spPr>
          <a:xfrm>
            <a:off x="2016751" y="4613039"/>
            <a:ext cx="1365256" cy="54737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200" dirty="0"/>
              <a:t>KD TREE YE EKLEME</a:t>
            </a:r>
          </a:p>
        </p:txBody>
      </p:sp>
      <p:cxnSp>
        <p:nvCxnSpPr>
          <p:cNvPr id="7" name="Düz Ok Bağlayıcısı 6">
            <a:extLst>
              <a:ext uri="{FF2B5EF4-FFF2-40B4-BE49-F238E27FC236}">
                <a16:creationId xmlns:a16="http://schemas.microsoft.com/office/drawing/2014/main" id="{FB6992C8-A2E0-9C34-E593-AB3795F2A658}"/>
              </a:ext>
            </a:extLst>
          </p:cNvPr>
          <p:cNvCxnSpPr/>
          <p:nvPr/>
        </p:nvCxnSpPr>
        <p:spPr>
          <a:xfrm flipH="1">
            <a:off x="2074859" y="5160409"/>
            <a:ext cx="487680" cy="547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33EA4E1-0B3D-5971-F7FB-E4598D7BA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2" y="-251875"/>
            <a:ext cx="921699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tr-TR" altLang="tr-TR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 Ekleme </a:t>
            </a:r>
            <a:endParaRPr kumimoji="0" lang="tr-TR" altLang="tr-T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Açıklama</a:t>
            </a:r>
            <a:endParaRPr kumimoji="0" lang="tr-TR" altLang="tr-T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Yeni bir satıcı sisteme eklendiğinde, satıcının konum bilgisi kullanılarak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Quadtree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üzerinden hangi alt bölgede yer aldığı belirlenir. Daha sonra satıcı, ilgili bölgeye ait 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k-d Ağaç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yapısına eklenir. Bu aşamada satıcı doğrudan dinamik diziye eklenmez; dizi yalnızca sorgu sonucunda belirlenen adaylar için kullanılır.</a:t>
            </a:r>
            <a:r>
              <a:rPr lang="tr-TR" altLang="tr-T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Dinamik dizi kalıcı veri yapısı değildir; yalnızca sorgu sırasında geçici olarak oluşturulan aday satıcıları tutar.</a:t>
            </a: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E2551C47-840B-24E0-EB02-E54303665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4BD21828-A081-1D6A-6D24-8819923F4C9F}"/>
              </a:ext>
            </a:extLst>
          </p:cNvPr>
          <p:cNvSpPr/>
          <p:nvPr/>
        </p:nvSpPr>
        <p:spPr>
          <a:xfrm>
            <a:off x="1130962" y="5707779"/>
            <a:ext cx="1887794" cy="4522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VERİ EKLENİR </a:t>
            </a:r>
          </a:p>
        </p:txBody>
      </p:sp>
    </p:spTree>
    <p:extLst>
      <p:ext uri="{BB962C8B-B14F-4D97-AF65-F5344CB8AC3E}">
        <p14:creationId xmlns:p14="http://schemas.microsoft.com/office/powerpoint/2010/main" val="301323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9220E21-C3E6-4F7F-327F-479841D54A78}"/>
              </a:ext>
            </a:extLst>
          </p:cNvPr>
          <p:cNvSpPr txBox="1"/>
          <p:nvPr/>
        </p:nvSpPr>
        <p:spPr>
          <a:xfrm>
            <a:off x="324090" y="254643"/>
            <a:ext cx="11484451" cy="6009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 Silme (Satıcı Silme)</a:t>
            </a:r>
            <a:endParaRPr lang="tr-T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Açıklama</a:t>
            </a:r>
            <a:endParaRPr lang="tr-T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Bir satıcı silinmek istendiğinde, satıcının kimlik veya konum bilgisi yardımıyla </a:t>
            </a:r>
            <a:r>
              <a:rPr lang="tr-TR" sz="1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Quadtree</a:t>
            </a:r>
            <a:r>
              <a:rPr lang="tr-T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üzerinden hangi bölgede bulunduğu tespit edilir. Ardından satıcı, ilgili bölgedeki </a:t>
            </a:r>
            <a:r>
              <a:rPr lang="tr-TR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k-d Ağaç</a:t>
            </a:r>
            <a:r>
              <a:rPr lang="tr-T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yapısından çıkarılır. </a:t>
            </a:r>
            <a:r>
              <a:rPr lang="tr-TR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Satıcı, ilgili bölgedeki k-d ağaçtan silinir. Dinamik dizi yalnızca sorgu anında oluşturulan geçici bir yapı olduğu için, kalıcı silme işleminin bir parçası değildir.</a:t>
            </a:r>
            <a:r>
              <a:rPr lang="tr-TR" sz="1600" dirty="0"/>
              <a:t> “Eğer silinecek satıcı aktif bir sorgu sonucunda aday dizide yer alıyorsa, diziden de çıkarılır</a:t>
            </a:r>
            <a:endParaRPr lang="tr-TR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</a:t>
            </a:r>
            <a:endParaRPr lang="tr-T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dirty="0"/>
              <a:t>SATICI (ID / Konum)</a:t>
            </a:r>
          </a:p>
          <a:p>
            <a:r>
              <a:rPr lang="tr-TR" dirty="0"/>
              <a:t>        ↓</a:t>
            </a:r>
          </a:p>
          <a:p>
            <a:r>
              <a:rPr lang="tr-TR" dirty="0"/>
              <a:t>QUADTREE → Bölge bulunur</a:t>
            </a:r>
          </a:p>
          <a:p>
            <a:r>
              <a:rPr lang="tr-TR" dirty="0"/>
              <a:t>        ↓</a:t>
            </a:r>
          </a:p>
          <a:p>
            <a:r>
              <a:rPr lang="tr-TR" dirty="0"/>
              <a:t>İlgili k-d </a:t>
            </a:r>
            <a:r>
              <a:rPr lang="tr-TR" dirty="0" err="1"/>
              <a:t>tree</a:t>
            </a:r>
            <a:endParaRPr lang="tr-TR" dirty="0"/>
          </a:p>
          <a:p>
            <a:r>
              <a:rPr lang="tr-TR" dirty="0"/>
              <a:t>        ↓</a:t>
            </a:r>
          </a:p>
          <a:p>
            <a:r>
              <a:rPr lang="tr-TR" dirty="0"/>
              <a:t>Satıcı düğümü silinir</a:t>
            </a:r>
          </a:p>
          <a:p>
            <a:r>
              <a:rPr lang="tr-TR" dirty="0"/>
              <a:t>        ↓</a:t>
            </a:r>
          </a:p>
          <a:p>
            <a:r>
              <a:rPr lang="tr-TR" dirty="0"/>
              <a:t>(Bu sırada varsa aday diziden de çıkarılır)</a:t>
            </a:r>
            <a:endParaRPr lang="tr-TR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7482E975-EE22-93BD-123F-D0D6B0C1809C}"/>
              </a:ext>
            </a:extLst>
          </p:cNvPr>
          <p:cNvSpPr/>
          <p:nvPr/>
        </p:nvSpPr>
        <p:spPr>
          <a:xfrm>
            <a:off x="6741785" y="2475897"/>
            <a:ext cx="3487897" cy="5787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SATICI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B3911201-1176-1DF3-B26F-694FBDCDF274}"/>
              </a:ext>
            </a:extLst>
          </p:cNvPr>
          <p:cNvSpPr/>
          <p:nvPr/>
        </p:nvSpPr>
        <p:spPr>
          <a:xfrm>
            <a:off x="7687546" y="3550626"/>
            <a:ext cx="1596374" cy="5787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 QUADTREE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997E576-E1A8-FCAB-E749-0D59B44C74C3}"/>
              </a:ext>
            </a:extLst>
          </p:cNvPr>
          <p:cNvSpPr/>
          <p:nvPr/>
        </p:nvSpPr>
        <p:spPr>
          <a:xfrm>
            <a:off x="7700103" y="5388756"/>
            <a:ext cx="1583817" cy="54995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DÜĞÜM</a:t>
            </a:r>
          </a:p>
        </p:txBody>
      </p: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A3356B28-CF80-A096-579D-38628A9934DD}"/>
              </a:ext>
            </a:extLst>
          </p:cNvPr>
          <p:cNvCxnSpPr>
            <a:cxnSpLocks/>
          </p:cNvCxnSpPr>
          <p:nvPr/>
        </p:nvCxnSpPr>
        <p:spPr>
          <a:xfrm>
            <a:off x="8485733" y="3072824"/>
            <a:ext cx="0" cy="477802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EA99C867-62BC-2622-1521-EA8DAC6DC65B}"/>
              </a:ext>
            </a:extLst>
          </p:cNvPr>
          <p:cNvCxnSpPr>
            <a:cxnSpLocks/>
          </p:cNvCxnSpPr>
          <p:nvPr/>
        </p:nvCxnSpPr>
        <p:spPr>
          <a:xfrm>
            <a:off x="8529197" y="4969494"/>
            <a:ext cx="0" cy="50290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kdörtgen 18">
            <a:extLst>
              <a:ext uri="{FF2B5EF4-FFF2-40B4-BE49-F238E27FC236}">
                <a16:creationId xmlns:a16="http://schemas.microsoft.com/office/drawing/2014/main" id="{05D901B5-E4BE-1639-A8AE-2AB40855446D}"/>
              </a:ext>
            </a:extLst>
          </p:cNvPr>
          <p:cNvSpPr/>
          <p:nvPr/>
        </p:nvSpPr>
        <p:spPr>
          <a:xfrm>
            <a:off x="7457033" y="4556238"/>
            <a:ext cx="2057400" cy="41325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K-D TREE</a:t>
            </a:r>
          </a:p>
        </p:txBody>
      </p:sp>
      <p:cxnSp>
        <p:nvCxnSpPr>
          <p:cNvPr id="20" name="Düz Ok Bağlayıcısı 19">
            <a:extLst>
              <a:ext uri="{FF2B5EF4-FFF2-40B4-BE49-F238E27FC236}">
                <a16:creationId xmlns:a16="http://schemas.microsoft.com/office/drawing/2014/main" id="{88A4780E-65F8-1675-FA23-FE9BFEC55DEA}"/>
              </a:ext>
            </a:extLst>
          </p:cNvPr>
          <p:cNvCxnSpPr>
            <a:cxnSpLocks/>
          </p:cNvCxnSpPr>
          <p:nvPr/>
        </p:nvCxnSpPr>
        <p:spPr>
          <a:xfrm>
            <a:off x="8529197" y="4129360"/>
            <a:ext cx="0" cy="44094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kdörtgen 20">
            <a:extLst>
              <a:ext uri="{FF2B5EF4-FFF2-40B4-BE49-F238E27FC236}">
                <a16:creationId xmlns:a16="http://schemas.microsoft.com/office/drawing/2014/main" id="{427EBFEB-3E6A-3386-C885-B3CCC31BBDA4}"/>
              </a:ext>
            </a:extLst>
          </p:cNvPr>
          <p:cNvSpPr/>
          <p:nvPr/>
        </p:nvSpPr>
        <p:spPr>
          <a:xfrm>
            <a:off x="9839142" y="5126527"/>
            <a:ext cx="1767840" cy="69417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KD TREE SİLİNİR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8FC94DE9-903E-D67E-2D01-D76B463BB187}"/>
              </a:ext>
            </a:extLst>
          </p:cNvPr>
          <p:cNvSpPr/>
          <p:nvPr/>
        </p:nvSpPr>
        <p:spPr>
          <a:xfrm>
            <a:off x="9839142" y="5938715"/>
            <a:ext cx="1767840" cy="78266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VARSA ADAY DİZİDEN DE ÇIKARILIR</a:t>
            </a:r>
          </a:p>
        </p:txBody>
      </p:sp>
    </p:spTree>
    <p:extLst>
      <p:ext uri="{BB962C8B-B14F-4D97-AF65-F5344CB8AC3E}">
        <p14:creationId xmlns:p14="http://schemas.microsoft.com/office/powerpoint/2010/main" val="176566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EC0C00A8-EFE2-D1EA-C862-90A828D35569}"/>
              </a:ext>
            </a:extLst>
          </p:cNvPr>
          <p:cNvSpPr txBox="1"/>
          <p:nvPr/>
        </p:nvSpPr>
        <p:spPr>
          <a:xfrm>
            <a:off x="127321" y="185195"/>
            <a:ext cx="11575665" cy="6672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Elemanları Gezinme ve Ekrana Yazdırma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Açıklama :</a:t>
            </a:r>
            <a:r>
              <a:rPr lang="tr-TR" dirty="0"/>
              <a:t>LDS yapısında elemanları listelemek için yapı hiyerarşik olarak gezilir.</a:t>
            </a:r>
            <a:br>
              <a:rPr lang="tr-TR" dirty="0"/>
            </a:br>
            <a:r>
              <a:rPr lang="tr-TR" dirty="0"/>
              <a:t>Öncelikle </a:t>
            </a:r>
            <a:r>
              <a:rPr lang="tr-TR" dirty="0" err="1"/>
              <a:t>Quadtree</a:t>
            </a:r>
            <a:r>
              <a:rPr lang="tr-TR" dirty="0"/>
              <a:t> üzerinde tanımlı tüm alt bölgeler sırasıyla </a:t>
            </a:r>
            <a:r>
              <a:rPr lang="tr-TR" dirty="0" err="1"/>
              <a:t>dolaşılır.Her</a:t>
            </a:r>
            <a:r>
              <a:rPr lang="tr-TR" dirty="0"/>
              <a:t> bir alt bölgeye ait k-d ağaç üzerinde gezinme </a:t>
            </a:r>
            <a:r>
              <a:rPr lang="tr-TR" dirty="0" err="1"/>
              <a:t>yapılarak,o</a:t>
            </a:r>
            <a:r>
              <a:rPr lang="tr-TR" dirty="0"/>
              <a:t> bölgede bulunan satıcıların bilgileri ekrana </a:t>
            </a:r>
            <a:r>
              <a:rPr lang="tr-TR" dirty="0" err="1"/>
              <a:t>yazdırılır.Dinamik</a:t>
            </a:r>
            <a:r>
              <a:rPr lang="tr-TR" dirty="0"/>
              <a:t> dizi bu aşamada kullanılmaz; çünkü yalnızca sorgu sırasında geçici adayları tutmak için tasarlanmıştır.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tr-TR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237AD9A8-0E9B-CE49-DDCD-2636B27D5CCE}"/>
              </a:ext>
            </a:extLst>
          </p:cNvPr>
          <p:cNvSpPr/>
          <p:nvPr/>
        </p:nvSpPr>
        <p:spPr>
          <a:xfrm>
            <a:off x="489013" y="2292128"/>
            <a:ext cx="3877520" cy="6476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6" name="Düz Ok Bağlayıcısı 5">
            <a:extLst>
              <a:ext uri="{FF2B5EF4-FFF2-40B4-BE49-F238E27FC236}">
                <a16:creationId xmlns:a16="http://schemas.microsoft.com/office/drawing/2014/main" id="{7585978D-798C-9262-297C-94D90191F0BF}"/>
              </a:ext>
            </a:extLst>
          </p:cNvPr>
          <p:cNvCxnSpPr>
            <a:cxnSpLocks/>
          </p:cNvCxnSpPr>
          <p:nvPr/>
        </p:nvCxnSpPr>
        <p:spPr>
          <a:xfrm>
            <a:off x="804436" y="2896565"/>
            <a:ext cx="0" cy="413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2550D8F4-9821-A526-2087-D60E2B17D61D}"/>
              </a:ext>
            </a:extLst>
          </p:cNvPr>
          <p:cNvSpPr/>
          <p:nvPr/>
        </p:nvSpPr>
        <p:spPr>
          <a:xfrm>
            <a:off x="489013" y="3324828"/>
            <a:ext cx="706056" cy="78223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64F84268-C097-DD9F-7F1C-EA4A8F96FF3C}"/>
              </a:ext>
            </a:extLst>
          </p:cNvPr>
          <p:cNvSpPr/>
          <p:nvPr/>
        </p:nvSpPr>
        <p:spPr>
          <a:xfrm>
            <a:off x="1341207" y="3324828"/>
            <a:ext cx="706056" cy="78223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2BC6AB27-F7DA-5316-6AA3-FAA3FB8BC85C}"/>
              </a:ext>
            </a:extLst>
          </p:cNvPr>
          <p:cNvSpPr/>
          <p:nvPr/>
        </p:nvSpPr>
        <p:spPr>
          <a:xfrm>
            <a:off x="2371463" y="3351427"/>
            <a:ext cx="706056" cy="78223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6E1E17F1-7AB9-C1FB-61DD-2613ACEA78A1}"/>
              </a:ext>
            </a:extLst>
          </p:cNvPr>
          <p:cNvSpPr/>
          <p:nvPr/>
        </p:nvSpPr>
        <p:spPr>
          <a:xfrm>
            <a:off x="3310325" y="3324828"/>
            <a:ext cx="706056" cy="78223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13" name="Düz Ok Bağlayıcısı 12">
            <a:extLst>
              <a:ext uri="{FF2B5EF4-FFF2-40B4-BE49-F238E27FC236}">
                <a16:creationId xmlns:a16="http://schemas.microsoft.com/office/drawing/2014/main" id="{52FDE210-4DD7-FB97-FF82-A1BE9886F0AF}"/>
              </a:ext>
            </a:extLst>
          </p:cNvPr>
          <p:cNvCxnSpPr>
            <a:cxnSpLocks/>
          </p:cNvCxnSpPr>
          <p:nvPr/>
        </p:nvCxnSpPr>
        <p:spPr>
          <a:xfrm>
            <a:off x="842041" y="4107058"/>
            <a:ext cx="0" cy="426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6C827532-5CD3-AADE-C020-74EDD43C3F04}"/>
              </a:ext>
            </a:extLst>
          </p:cNvPr>
          <p:cNvSpPr/>
          <p:nvPr/>
        </p:nvSpPr>
        <p:spPr>
          <a:xfrm>
            <a:off x="372105" y="4523174"/>
            <a:ext cx="864662" cy="436944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8B83A588-ED86-64F2-1816-F62D74CCA950}"/>
              </a:ext>
            </a:extLst>
          </p:cNvPr>
          <p:cNvCxnSpPr/>
          <p:nvPr/>
        </p:nvCxnSpPr>
        <p:spPr>
          <a:xfrm flipH="1">
            <a:off x="398318" y="5049456"/>
            <a:ext cx="315423" cy="43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35C84BD-7AB6-90B3-97EF-841842A0A99F}"/>
              </a:ext>
            </a:extLst>
          </p:cNvPr>
          <p:cNvSpPr/>
          <p:nvPr/>
        </p:nvSpPr>
        <p:spPr>
          <a:xfrm>
            <a:off x="102717" y="5471081"/>
            <a:ext cx="3275634" cy="7822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3" name="Düz Bağlayıcı 22">
            <a:extLst>
              <a:ext uri="{FF2B5EF4-FFF2-40B4-BE49-F238E27FC236}">
                <a16:creationId xmlns:a16="http://schemas.microsoft.com/office/drawing/2014/main" id="{06EF9F48-AEF5-8B43-A69C-79CA3817DD32}"/>
              </a:ext>
            </a:extLst>
          </p:cNvPr>
          <p:cNvCxnSpPr/>
          <p:nvPr/>
        </p:nvCxnSpPr>
        <p:spPr>
          <a:xfrm>
            <a:off x="662375" y="5486400"/>
            <a:ext cx="0" cy="7822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Bağlayıcı 23">
            <a:extLst>
              <a:ext uri="{FF2B5EF4-FFF2-40B4-BE49-F238E27FC236}">
                <a16:creationId xmlns:a16="http://schemas.microsoft.com/office/drawing/2014/main" id="{B13CAC03-3033-FA3D-1034-E8D0BFF2E7BD}"/>
              </a:ext>
            </a:extLst>
          </p:cNvPr>
          <p:cNvCxnSpPr>
            <a:cxnSpLocks/>
          </p:cNvCxnSpPr>
          <p:nvPr/>
        </p:nvCxnSpPr>
        <p:spPr>
          <a:xfrm>
            <a:off x="1165569" y="5546785"/>
            <a:ext cx="0" cy="70652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Bağlayıcı 24">
            <a:extLst>
              <a:ext uri="{FF2B5EF4-FFF2-40B4-BE49-F238E27FC236}">
                <a16:creationId xmlns:a16="http://schemas.microsoft.com/office/drawing/2014/main" id="{D0B3CED8-A4A2-A134-0598-9DFBB34991BD}"/>
              </a:ext>
            </a:extLst>
          </p:cNvPr>
          <p:cNvCxnSpPr/>
          <p:nvPr/>
        </p:nvCxnSpPr>
        <p:spPr>
          <a:xfrm>
            <a:off x="1740534" y="5471081"/>
            <a:ext cx="0" cy="7822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Bağlayıcı 25">
            <a:extLst>
              <a:ext uri="{FF2B5EF4-FFF2-40B4-BE49-F238E27FC236}">
                <a16:creationId xmlns:a16="http://schemas.microsoft.com/office/drawing/2014/main" id="{7C18350B-0A8B-D25C-B464-F575CD01E2A9}"/>
              </a:ext>
            </a:extLst>
          </p:cNvPr>
          <p:cNvCxnSpPr/>
          <p:nvPr/>
        </p:nvCxnSpPr>
        <p:spPr>
          <a:xfrm>
            <a:off x="2312165" y="5486400"/>
            <a:ext cx="0" cy="7822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Düz Bağlayıcı 26">
            <a:extLst>
              <a:ext uri="{FF2B5EF4-FFF2-40B4-BE49-F238E27FC236}">
                <a16:creationId xmlns:a16="http://schemas.microsoft.com/office/drawing/2014/main" id="{A9C92338-4C80-3F53-61FE-6D98991B3AD0}"/>
              </a:ext>
            </a:extLst>
          </p:cNvPr>
          <p:cNvCxnSpPr>
            <a:cxnSpLocks/>
          </p:cNvCxnSpPr>
          <p:nvPr/>
        </p:nvCxnSpPr>
        <p:spPr>
          <a:xfrm>
            <a:off x="2871569" y="5546785"/>
            <a:ext cx="0" cy="70652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Düz Ok Bağlayıcısı 4">
            <a:extLst>
              <a:ext uri="{FF2B5EF4-FFF2-40B4-BE49-F238E27FC236}">
                <a16:creationId xmlns:a16="http://schemas.microsoft.com/office/drawing/2014/main" id="{23815ADF-62EA-BCF6-4905-37DF6074A066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694235" y="2939748"/>
            <a:ext cx="0" cy="38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8AF0A50E-ED5D-0940-667B-89B8164E4D30}"/>
              </a:ext>
            </a:extLst>
          </p:cNvPr>
          <p:cNvCxnSpPr>
            <a:cxnSpLocks/>
          </p:cNvCxnSpPr>
          <p:nvPr/>
        </p:nvCxnSpPr>
        <p:spPr>
          <a:xfrm>
            <a:off x="2672544" y="2981198"/>
            <a:ext cx="0" cy="38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AE8765D3-5714-C246-A1DD-D1ED070451E4}"/>
              </a:ext>
            </a:extLst>
          </p:cNvPr>
          <p:cNvCxnSpPr>
            <a:cxnSpLocks/>
          </p:cNvCxnSpPr>
          <p:nvPr/>
        </p:nvCxnSpPr>
        <p:spPr>
          <a:xfrm>
            <a:off x="3645938" y="2981198"/>
            <a:ext cx="0" cy="38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D792715B-E966-CE91-CBFA-1D5EE91F32B5}"/>
              </a:ext>
            </a:extLst>
          </p:cNvPr>
          <p:cNvCxnSpPr>
            <a:cxnSpLocks/>
          </p:cNvCxnSpPr>
          <p:nvPr/>
        </p:nvCxnSpPr>
        <p:spPr>
          <a:xfrm>
            <a:off x="1765140" y="4160256"/>
            <a:ext cx="0" cy="38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98183413-8A23-7CB2-13B3-0DB7EA87B1C7}"/>
              </a:ext>
            </a:extLst>
          </p:cNvPr>
          <p:cNvSpPr/>
          <p:nvPr/>
        </p:nvSpPr>
        <p:spPr>
          <a:xfrm>
            <a:off x="1313543" y="4523174"/>
            <a:ext cx="864662" cy="436944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7A09B7F-BF98-5CD8-04C4-DA98F3714C88}"/>
              </a:ext>
            </a:extLst>
          </p:cNvPr>
          <p:cNvSpPr/>
          <p:nvPr/>
        </p:nvSpPr>
        <p:spPr>
          <a:xfrm>
            <a:off x="2312165" y="4545336"/>
            <a:ext cx="864662" cy="436944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157F1FD-4250-64D6-43AD-15A59D412685}"/>
              </a:ext>
            </a:extLst>
          </p:cNvPr>
          <p:cNvSpPr/>
          <p:nvPr/>
        </p:nvSpPr>
        <p:spPr>
          <a:xfrm>
            <a:off x="3300243" y="4545336"/>
            <a:ext cx="864662" cy="436944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9" name="Düz Ok Bağlayıcısı 28">
            <a:extLst>
              <a:ext uri="{FF2B5EF4-FFF2-40B4-BE49-F238E27FC236}">
                <a16:creationId xmlns:a16="http://schemas.microsoft.com/office/drawing/2014/main" id="{F2ABE7E0-F68E-7930-FFCC-F6D1031C8E20}"/>
              </a:ext>
            </a:extLst>
          </p:cNvPr>
          <p:cNvCxnSpPr>
            <a:cxnSpLocks/>
          </p:cNvCxnSpPr>
          <p:nvPr/>
        </p:nvCxnSpPr>
        <p:spPr>
          <a:xfrm>
            <a:off x="2744496" y="4160256"/>
            <a:ext cx="0" cy="38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Ok Bağlayıcısı 29">
            <a:extLst>
              <a:ext uri="{FF2B5EF4-FFF2-40B4-BE49-F238E27FC236}">
                <a16:creationId xmlns:a16="http://schemas.microsoft.com/office/drawing/2014/main" id="{C2600E40-59C8-C9E8-E71F-5B087B729153}"/>
              </a:ext>
            </a:extLst>
          </p:cNvPr>
          <p:cNvCxnSpPr>
            <a:cxnSpLocks/>
          </p:cNvCxnSpPr>
          <p:nvPr/>
        </p:nvCxnSpPr>
        <p:spPr>
          <a:xfrm>
            <a:off x="3663353" y="4160256"/>
            <a:ext cx="0" cy="38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ikdörtgen 30">
            <a:extLst>
              <a:ext uri="{FF2B5EF4-FFF2-40B4-BE49-F238E27FC236}">
                <a16:creationId xmlns:a16="http://schemas.microsoft.com/office/drawing/2014/main" id="{6686F127-0B97-6592-DF4E-9119C753F277}"/>
              </a:ext>
            </a:extLst>
          </p:cNvPr>
          <p:cNvSpPr/>
          <p:nvPr/>
        </p:nvSpPr>
        <p:spPr>
          <a:xfrm>
            <a:off x="4719484" y="5486400"/>
            <a:ext cx="1887789" cy="58993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Satıcı Bilgileri</a:t>
            </a:r>
          </a:p>
          <a:p>
            <a:pPr algn="ctr"/>
            <a:r>
              <a:rPr lang="tr-TR"/>
              <a:t>Ekrana Yazdırılır</a:t>
            </a:r>
          </a:p>
        </p:txBody>
      </p:sp>
    </p:spTree>
    <p:extLst>
      <p:ext uri="{BB962C8B-B14F-4D97-AF65-F5344CB8AC3E}">
        <p14:creationId xmlns:p14="http://schemas.microsoft.com/office/powerpoint/2010/main" val="3559918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o 5">
            <a:extLst>
              <a:ext uri="{FF2B5EF4-FFF2-40B4-BE49-F238E27FC236}">
                <a16:creationId xmlns:a16="http://schemas.microsoft.com/office/drawing/2014/main" id="{1D915995-2262-DB59-2007-C223B6AA5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643806"/>
              </p:ext>
            </p:extLst>
          </p:nvPr>
        </p:nvGraphicFramePr>
        <p:xfrm>
          <a:off x="451956" y="1126121"/>
          <a:ext cx="5486400" cy="465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32">
                  <a:extLst>
                    <a:ext uri="{9D8B030D-6E8A-4147-A177-3AD203B41FA5}">
                      <a16:colId xmlns:a16="http://schemas.microsoft.com/office/drawing/2014/main" val="2083661361"/>
                    </a:ext>
                  </a:extLst>
                </a:gridCol>
                <a:gridCol w="1811884">
                  <a:extLst>
                    <a:ext uri="{9D8B030D-6E8A-4147-A177-3AD203B41FA5}">
                      <a16:colId xmlns:a16="http://schemas.microsoft.com/office/drawing/2014/main" val="1900368152"/>
                    </a:ext>
                  </a:extLst>
                </a:gridCol>
                <a:gridCol w="1811884">
                  <a:extLst>
                    <a:ext uri="{9D8B030D-6E8A-4147-A177-3AD203B41FA5}">
                      <a16:colId xmlns:a16="http://schemas.microsoft.com/office/drawing/2014/main" val="2112841649"/>
                    </a:ext>
                  </a:extLst>
                </a:gridCol>
              </a:tblGrid>
              <a:tr h="440127">
                <a:tc>
                  <a:txBody>
                    <a:bodyPr/>
                    <a:lstStyle/>
                    <a:p>
                      <a:r>
                        <a:rPr lang="tr-TR" dirty="0"/>
                        <a:t>KRİTER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     LDS AVANTAJI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       LDS DEZAVANTAJI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57096"/>
                  </a:ext>
                </a:extLst>
              </a:tr>
              <a:tr h="755441">
                <a:tc>
                  <a:txBody>
                    <a:bodyPr/>
                    <a:lstStyle/>
                    <a:p>
                      <a:r>
                        <a:rPr lang="tr-TR" dirty="0"/>
                        <a:t> YAPI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 HİBRİT;ÇOK KATMANLI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 MALİYETLİ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247282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r>
                        <a:rPr lang="tr-TR" dirty="0"/>
                        <a:t>ARAMA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TÜM ELEMANLAR GEZİLMEZ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DAHA KARMAŞIK YAPI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772008"/>
                  </a:ext>
                </a:extLst>
              </a:tr>
              <a:tr h="528809">
                <a:tc>
                  <a:txBody>
                    <a:bodyPr/>
                    <a:lstStyle/>
                    <a:p>
                      <a:r>
                        <a:rPr lang="tr-TR" dirty="0"/>
                        <a:t>KONUM İŞLEME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 KONUM TABANLI ARAMA YAPILABİLİR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EK YAPI MALİYETİ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54528"/>
                  </a:ext>
                </a:extLst>
              </a:tr>
              <a:tr h="528809">
                <a:tc>
                  <a:txBody>
                    <a:bodyPr/>
                    <a:lstStyle/>
                    <a:p>
                      <a:r>
                        <a:rPr lang="tr-TR" dirty="0"/>
                        <a:t>PERFORMANS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BÜYÜK VERİDE DAHA HIZLI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 KÜÇÜK VERİDE GEREKSİZ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01797"/>
                  </a:ext>
                </a:extLst>
              </a:tr>
              <a:tr h="528809">
                <a:tc>
                  <a:txBody>
                    <a:bodyPr/>
                    <a:lstStyle/>
                    <a:p>
                      <a:r>
                        <a:rPr lang="tr-TR" dirty="0"/>
                        <a:t>KARAR MEKANİZMASI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ÇOK KRİTERLİ SEÇİM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BASİT SENARYODA AĞIR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538011"/>
                  </a:ext>
                </a:extLst>
              </a:tr>
              <a:tr h="440127">
                <a:tc>
                  <a:txBody>
                    <a:bodyPr/>
                    <a:lstStyle/>
                    <a:p>
                      <a:r>
                        <a:rPr lang="tr-TR" dirty="0"/>
                        <a:t>ÖLÇEKLENEBİLİRLİK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 YÜKSEK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 UYGULAMASI ZOR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111929"/>
                  </a:ext>
                </a:extLst>
              </a:tr>
            </a:tbl>
          </a:graphicData>
        </a:graphic>
      </p:graphicFrame>
      <p:sp>
        <p:nvSpPr>
          <p:cNvPr id="3" name="Metin kutusu 2">
            <a:extLst>
              <a:ext uri="{FF2B5EF4-FFF2-40B4-BE49-F238E27FC236}">
                <a16:creationId xmlns:a16="http://schemas.microsoft.com/office/drawing/2014/main" id="{99357CE0-FF18-7200-9F5A-2C64D117F33E}"/>
              </a:ext>
            </a:extLst>
          </p:cNvPr>
          <p:cNvSpPr txBox="1"/>
          <p:nvPr/>
        </p:nvSpPr>
        <p:spPr>
          <a:xfrm>
            <a:off x="619432" y="160614"/>
            <a:ext cx="5319252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LDS ‘NİN D</a:t>
            </a:r>
            <a:r>
              <a:rPr lang="tr-TR" kern="1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İZİYE </a:t>
            </a:r>
            <a:r>
              <a:rPr lang="tr-TR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GÖRE AVANTAJLARI VE DEZAVANTAJLARI </a:t>
            </a:r>
            <a:endParaRPr lang="tr-TR" sz="1050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69A813E1-E568-897A-2FB8-BDED5A8D0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496201"/>
              </p:ext>
            </p:extLst>
          </p:nvPr>
        </p:nvGraphicFramePr>
        <p:xfrm>
          <a:off x="6461760" y="1432560"/>
          <a:ext cx="5445760" cy="3611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836">
                  <a:extLst>
                    <a:ext uri="{9D8B030D-6E8A-4147-A177-3AD203B41FA5}">
                      <a16:colId xmlns:a16="http://schemas.microsoft.com/office/drawing/2014/main" val="389699914"/>
                    </a:ext>
                  </a:extLst>
                </a:gridCol>
                <a:gridCol w="1836764">
                  <a:extLst>
                    <a:ext uri="{9D8B030D-6E8A-4147-A177-3AD203B41FA5}">
                      <a16:colId xmlns:a16="http://schemas.microsoft.com/office/drawing/2014/main" val="4211436987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429232730"/>
                    </a:ext>
                  </a:extLst>
                </a:gridCol>
              </a:tblGrid>
              <a:tr h="532738">
                <a:tc>
                  <a:txBody>
                    <a:bodyPr/>
                    <a:lstStyle/>
                    <a:p>
                      <a:r>
                        <a:rPr lang="tr-TR" dirty="0"/>
                        <a:t>KRİTER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 LDS AVANTAJI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 LDS DEZAVANTAJI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582995"/>
                  </a:ext>
                </a:extLst>
              </a:tr>
              <a:tr h="532738">
                <a:tc>
                  <a:txBody>
                    <a:bodyPr/>
                    <a:lstStyle/>
                    <a:p>
                      <a:r>
                        <a:rPr lang="tr-TR" dirty="0"/>
                        <a:t>ARAMA HIZI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  DAHA HIZLI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 KOD KARMAŞIKLIĞI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63706"/>
                  </a:ext>
                </a:extLst>
              </a:tr>
              <a:tr h="532738">
                <a:tc>
                  <a:txBody>
                    <a:bodyPr/>
                    <a:lstStyle/>
                    <a:p>
                      <a:r>
                        <a:rPr lang="tr-TR" dirty="0"/>
                        <a:t>KONUM BİLGİSİ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DOĞRUDAN DESTEKLER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BELLEK TÜKETİMİ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377945"/>
                  </a:ext>
                </a:extLst>
              </a:tr>
              <a:tr h="532738">
                <a:tc>
                  <a:txBody>
                    <a:bodyPr/>
                    <a:lstStyle/>
                    <a:p>
                      <a:r>
                        <a:rPr lang="tr-TR" dirty="0"/>
                        <a:t>KARAR MEKANİZMASI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SKORLA EN İYİYİ SEÇER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TASARIM SÜRESİ UZUN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38262"/>
                  </a:ext>
                </a:extLst>
              </a:tr>
              <a:tr h="532738">
                <a:tc>
                  <a:txBody>
                    <a:bodyPr/>
                    <a:lstStyle/>
                    <a:p>
                      <a:r>
                        <a:rPr lang="tr-TR" dirty="0"/>
                        <a:t>GERÇEK HAYAT UYGUNLUĞU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DAHA UYGUN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ÖĞRENMESİ ZOR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744407"/>
                  </a:ext>
                </a:extLst>
              </a:tr>
              <a:tr h="532738">
                <a:tc>
                  <a:txBody>
                    <a:bodyPr/>
                    <a:lstStyle/>
                    <a:p>
                      <a:r>
                        <a:rPr lang="tr-TR" dirty="0"/>
                        <a:t>KULLANIM ALANI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BÜYÜK SİSTEM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KÜÇÜK SİSTEMLER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285968"/>
                  </a:ext>
                </a:extLst>
              </a:tr>
            </a:tbl>
          </a:graphicData>
        </a:graphic>
      </p:graphicFrame>
      <p:sp>
        <p:nvSpPr>
          <p:cNvPr id="7" name="Metin kutusu 6">
            <a:extLst>
              <a:ext uri="{FF2B5EF4-FFF2-40B4-BE49-F238E27FC236}">
                <a16:creationId xmlns:a16="http://schemas.microsoft.com/office/drawing/2014/main" id="{DA88EA2F-8926-14D9-48E2-104CCBAFE37E}"/>
              </a:ext>
            </a:extLst>
          </p:cNvPr>
          <p:cNvSpPr txBox="1"/>
          <p:nvPr/>
        </p:nvSpPr>
        <p:spPr>
          <a:xfrm>
            <a:off x="6868160" y="160615"/>
            <a:ext cx="4124960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LDS ‘NİN </a:t>
            </a:r>
            <a:r>
              <a:rPr lang="tr-TR" kern="1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BAĞLI LİSTEYE </a:t>
            </a:r>
            <a:r>
              <a:rPr lang="tr-TR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GÖRE AVANTAJLARI VE DEZAVANTAJLARI </a:t>
            </a:r>
            <a:endParaRPr lang="tr-TR" sz="1050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803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BFAEC5C1-9562-CAD6-DA3B-0CBDF6FCF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475198"/>
              </p:ext>
            </p:extLst>
          </p:nvPr>
        </p:nvGraphicFramePr>
        <p:xfrm>
          <a:off x="609600" y="1385948"/>
          <a:ext cx="5232400" cy="4161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213">
                  <a:extLst>
                    <a:ext uri="{9D8B030D-6E8A-4147-A177-3AD203B41FA5}">
                      <a16:colId xmlns:a16="http://schemas.microsoft.com/office/drawing/2014/main" val="2083661361"/>
                    </a:ext>
                  </a:extLst>
                </a:gridCol>
                <a:gridCol w="1699133">
                  <a:extLst>
                    <a:ext uri="{9D8B030D-6E8A-4147-A177-3AD203B41FA5}">
                      <a16:colId xmlns:a16="http://schemas.microsoft.com/office/drawing/2014/main" val="1900368152"/>
                    </a:ext>
                  </a:extLst>
                </a:gridCol>
                <a:gridCol w="1883054">
                  <a:extLst>
                    <a:ext uri="{9D8B030D-6E8A-4147-A177-3AD203B41FA5}">
                      <a16:colId xmlns:a16="http://schemas.microsoft.com/office/drawing/2014/main" val="2112841649"/>
                    </a:ext>
                  </a:extLst>
                </a:gridCol>
              </a:tblGrid>
              <a:tr h="822190">
                <a:tc>
                  <a:txBody>
                    <a:bodyPr/>
                    <a:lstStyle/>
                    <a:p>
                      <a:r>
                        <a:rPr lang="tr-TR" dirty="0"/>
                        <a:t>KRİTER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 LDS AVANTAJI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 LDS DEZAVANTAJI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57096"/>
                  </a:ext>
                </a:extLst>
              </a:tr>
              <a:tr h="739971">
                <a:tc>
                  <a:txBody>
                    <a:bodyPr/>
                    <a:lstStyle/>
                    <a:p>
                      <a:r>
                        <a:rPr lang="tr-TR" dirty="0"/>
                        <a:t>SEÇİM YETENEĞİ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EN UYGUN ELEMANI SEÇER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 BASİT İŞLMELER İÇİN AĞIR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247282"/>
                  </a:ext>
                </a:extLst>
              </a:tr>
              <a:tr h="520721">
                <a:tc>
                  <a:txBody>
                    <a:bodyPr/>
                    <a:lstStyle/>
                    <a:p>
                      <a:r>
                        <a:rPr lang="tr-TR" dirty="0"/>
                        <a:t>ESNEKLİK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ÇOK KRİTERLİ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LIFO KADAR HIZLI DEĞİL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772008"/>
                  </a:ext>
                </a:extLst>
              </a:tr>
              <a:tr h="575533">
                <a:tc>
                  <a:txBody>
                    <a:bodyPr/>
                    <a:lstStyle/>
                    <a:p>
                      <a:r>
                        <a:rPr lang="tr-TR" dirty="0"/>
                        <a:t>KONUM DESTEĞİ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KARMAŞIK YAPI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54528"/>
                  </a:ext>
                </a:extLst>
              </a:tr>
              <a:tr h="575533">
                <a:tc>
                  <a:txBody>
                    <a:bodyPr/>
                    <a:lstStyle/>
                    <a:p>
                      <a:r>
                        <a:rPr lang="tr-TR" dirty="0"/>
                        <a:t>PROBLEM TÜRÜ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KARAR PROBLEMLERİ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GEÇİÇİ İŞLEMLER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01797"/>
                  </a:ext>
                </a:extLst>
              </a:tr>
              <a:tr h="739971">
                <a:tc>
                  <a:txBody>
                    <a:bodyPr/>
                    <a:lstStyle/>
                    <a:p>
                      <a:r>
                        <a:rPr lang="tr-TR" dirty="0"/>
                        <a:t>UYGULAMA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GERÇEK HAYATA UYGUN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FAZLA DETAYLI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538011"/>
                  </a:ext>
                </a:extLst>
              </a:tr>
            </a:tbl>
          </a:graphicData>
        </a:graphic>
      </p:graphicFrame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5A58A6FE-C257-8634-CF7F-9F5C525CF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299304"/>
              </p:ext>
            </p:extLst>
          </p:nvPr>
        </p:nvGraphicFramePr>
        <p:xfrm>
          <a:off x="6718302" y="1310640"/>
          <a:ext cx="494792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289">
                  <a:extLst>
                    <a:ext uri="{9D8B030D-6E8A-4147-A177-3AD203B41FA5}">
                      <a16:colId xmlns:a16="http://schemas.microsoft.com/office/drawing/2014/main" val="1836309284"/>
                    </a:ext>
                  </a:extLst>
                </a:gridCol>
                <a:gridCol w="1621935">
                  <a:extLst>
                    <a:ext uri="{9D8B030D-6E8A-4147-A177-3AD203B41FA5}">
                      <a16:colId xmlns:a16="http://schemas.microsoft.com/office/drawing/2014/main" val="346682365"/>
                    </a:ext>
                  </a:extLst>
                </a:gridCol>
                <a:gridCol w="1750696">
                  <a:extLst>
                    <a:ext uri="{9D8B030D-6E8A-4147-A177-3AD203B41FA5}">
                      <a16:colId xmlns:a16="http://schemas.microsoft.com/office/drawing/2014/main" val="653880292"/>
                    </a:ext>
                  </a:extLst>
                </a:gridCol>
              </a:tblGrid>
              <a:tr h="548033">
                <a:tc>
                  <a:txBody>
                    <a:bodyPr/>
                    <a:lstStyle/>
                    <a:p>
                      <a:r>
                        <a:rPr lang="tr-TR" dirty="0"/>
                        <a:t>KRİTER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 LDS AVANTAJI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 LDS DEZAVANTAJI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93748"/>
                  </a:ext>
                </a:extLst>
              </a:tr>
              <a:tr h="548033">
                <a:tc>
                  <a:txBody>
                    <a:bodyPr/>
                    <a:lstStyle/>
                    <a:p>
                      <a:r>
                        <a:rPr lang="tr-TR" dirty="0"/>
                        <a:t>ÖNCELİK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ÖNCELİKLENDİRME YAPAR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FIFO KADR BASİT DEĞİL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411570"/>
                  </a:ext>
                </a:extLst>
              </a:tr>
              <a:tr h="548033">
                <a:tc>
                  <a:txBody>
                    <a:bodyPr/>
                    <a:lstStyle/>
                    <a:p>
                      <a:r>
                        <a:rPr lang="tr-TR" dirty="0"/>
                        <a:t>KARAR KALİTESİ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DAHA DOĞRU SONUÇ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UYGULAMA MALİYETİ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38043"/>
                  </a:ext>
                </a:extLst>
              </a:tr>
              <a:tr h="548033">
                <a:tc>
                  <a:txBody>
                    <a:bodyPr/>
                    <a:lstStyle/>
                    <a:p>
                      <a:r>
                        <a:rPr lang="tr-TR" dirty="0"/>
                        <a:t>KONUM BİLGİSİ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İŞLER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KUYRUK KADAR SADE DEĞİL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008553"/>
                  </a:ext>
                </a:extLst>
              </a:tr>
              <a:tr h="548033">
                <a:tc>
                  <a:txBody>
                    <a:bodyPr/>
                    <a:lstStyle/>
                    <a:p>
                      <a:r>
                        <a:rPr lang="tr-TR" dirty="0"/>
                        <a:t>SEÇİM MANTIĞI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AKILLI SEÇİM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FAZLA YAPI MEVCUT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017000"/>
                  </a:ext>
                </a:extLst>
              </a:tr>
              <a:tr h="548033">
                <a:tc>
                  <a:txBody>
                    <a:bodyPr/>
                    <a:lstStyle/>
                    <a:p>
                      <a:r>
                        <a:rPr lang="tr-TR" dirty="0"/>
                        <a:t>ÖLÇEK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BÜYÜK SİSTEMLERE UYGUN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KÜÇÜK SİSTEMLERDE AĞIR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970437"/>
                  </a:ext>
                </a:extLst>
              </a:tr>
            </a:tbl>
          </a:graphicData>
        </a:graphic>
      </p:graphicFrame>
      <p:sp>
        <p:nvSpPr>
          <p:cNvPr id="8" name="Metin kutusu 7">
            <a:extLst>
              <a:ext uri="{FF2B5EF4-FFF2-40B4-BE49-F238E27FC236}">
                <a16:creationId xmlns:a16="http://schemas.microsoft.com/office/drawing/2014/main" id="{DD077BBD-6696-D0C3-0663-F5FF4B39D79F}"/>
              </a:ext>
            </a:extLst>
          </p:cNvPr>
          <p:cNvSpPr txBox="1"/>
          <p:nvPr/>
        </p:nvSpPr>
        <p:spPr>
          <a:xfrm>
            <a:off x="1127760" y="293853"/>
            <a:ext cx="3368040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LDS ‘NİN YIĞINA GÖRE AVANTAJLARI VE DEZAVANTAJLARI </a:t>
            </a:r>
            <a:endParaRPr lang="tr-TR" sz="1050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70F53282-4243-6098-107A-6E987ED348CB}"/>
              </a:ext>
            </a:extLst>
          </p:cNvPr>
          <p:cNvSpPr txBox="1"/>
          <p:nvPr/>
        </p:nvSpPr>
        <p:spPr>
          <a:xfrm>
            <a:off x="6949440" y="293853"/>
            <a:ext cx="4389120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LDS ‘NİN </a:t>
            </a:r>
            <a:r>
              <a:rPr lang="tr-TR" kern="1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KUYRUĞA</a:t>
            </a:r>
            <a:r>
              <a:rPr lang="tr-TR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GÖRE AVANTAJLARI VE DEZAVANTAJLARI </a:t>
            </a:r>
            <a:endParaRPr lang="tr-TR" sz="1050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464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ED482CE8-C005-007F-503D-1CFB9F30C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87226"/>
              </p:ext>
            </p:extLst>
          </p:nvPr>
        </p:nvGraphicFramePr>
        <p:xfrm>
          <a:off x="833120" y="1271227"/>
          <a:ext cx="4739322" cy="365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416">
                  <a:extLst>
                    <a:ext uri="{9D8B030D-6E8A-4147-A177-3AD203B41FA5}">
                      <a16:colId xmlns:a16="http://schemas.microsoft.com/office/drawing/2014/main" val="2825626955"/>
                    </a:ext>
                  </a:extLst>
                </a:gridCol>
                <a:gridCol w="1550169">
                  <a:extLst>
                    <a:ext uri="{9D8B030D-6E8A-4147-A177-3AD203B41FA5}">
                      <a16:colId xmlns:a16="http://schemas.microsoft.com/office/drawing/2014/main" val="1892220431"/>
                    </a:ext>
                  </a:extLst>
                </a:gridCol>
                <a:gridCol w="1736737">
                  <a:extLst>
                    <a:ext uri="{9D8B030D-6E8A-4147-A177-3AD203B41FA5}">
                      <a16:colId xmlns:a16="http://schemas.microsoft.com/office/drawing/2014/main" val="3857331976"/>
                    </a:ext>
                  </a:extLst>
                </a:gridCol>
              </a:tblGrid>
              <a:tr h="5497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KRİTER</a:t>
                      </a:r>
                    </a:p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 LDS DEZAVANTAJI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LDS DEZAVANTAJI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058275"/>
                  </a:ext>
                </a:extLst>
              </a:tr>
              <a:tr h="5478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KRİTER SAYISI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ÇOK KRİTERLİ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TEK AĞAÇTAN ZOR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46196"/>
                  </a:ext>
                </a:extLst>
              </a:tr>
              <a:tr h="547822">
                <a:tc>
                  <a:txBody>
                    <a:bodyPr/>
                    <a:lstStyle/>
                    <a:p>
                      <a:r>
                        <a:rPr lang="tr-TR" dirty="0"/>
                        <a:t>KONUM İŞLEME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GÜÇLÜ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KURULUMU ZOR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432279"/>
                  </a:ext>
                </a:extLst>
              </a:tr>
              <a:tr h="547822">
                <a:tc>
                  <a:txBody>
                    <a:bodyPr/>
                    <a:lstStyle/>
                    <a:p>
                      <a:r>
                        <a:rPr lang="tr-TR" dirty="0"/>
                        <a:t>ESNEKLİK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YÜKSEK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 YAPI KARMAŞIK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450169"/>
                  </a:ext>
                </a:extLst>
              </a:tr>
              <a:tr h="547822">
                <a:tc>
                  <a:txBody>
                    <a:bodyPr/>
                    <a:lstStyle/>
                    <a:p>
                      <a:r>
                        <a:rPr lang="tr-TR" dirty="0"/>
                        <a:t>GERÇEK HAYAT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DAHA UYUMLU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ANLATIMI ZOR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509825"/>
                  </a:ext>
                </a:extLst>
              </a:tr>
              <a:tr h="547822">
                <a:tc>
                  <a:txBody>
                    <a:bodyPr/>
                    <a:lstStyle/>
                    <a:p>
                      <a:r>
                        <a:rPr lang="tr-TR" dirty="0"/>
                        <a:t>PERFORMANS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DAHA DENGELİ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DAHA FAZLA BELLEK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465464"/>
                  </a:ext>
                </a:extLst>
              </a:tr>
            </a:tbl>
          </a:graphicData>
        </a:graphic>
      </p:graphicFrame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6B62D7AB-646C-F185-99AA-A6D67719E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237599"/>
              </p:ext>
            </p:extLst>
          </p:nvPr>
        </p:nvGraphicFramePr>
        <p:xfrm>
          <a:off x="6096000" y="1271227"/>
          <a:ext cx="5125719" cy="4273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668">
                  <a:extLst>
                    <a:ext uri="{9D8B030D-6E8A-4147-A177-3AD203B41FA5}">
                      <a16:colId xmlns:a16="http://schemas.microsoft.com/office/drawing/2014/main" val="371490744"/>
                    </a:ext>
                  </a:extLst>
                </a:gridCol>
                <a:gridCol w="1777471">
                  <a:extLst>
                    <a:ext uri="{9D8B030D-6E8A-4147-A177-3AD203B41FA5}">
                      <a16:colId xmlns:a16="http://schemas.microsoft.com/office/drawing/2014/main" val="604537880"/>
                    </a:ext>
                  </a:extLst>
                </a:gridCol>
                <a:gridCol w="1918580">
                  <a:extLst>
                    <a:ext uri="{9D8B030D-6E8A-4147-A177-3AD203B41FA5}">
                      <a16:colId xmlns:a16="http://schemas.microsoft.com/office/drawing/2014/main" val="656310023"/>
                    </a:ext>
                  </a:extLst>
                </a:gridCol>
              </a:tblGrid>
              <a:tr h="1005655">
                <a:tc>
                  <a:txBody>
                    <a:bodyPr/>
                    <a:lstStyle/>
                    <a:p>
                      <a:r>
                        <a:rPr lang="tr-TR" dirty="0"/>
                        <a:t>KRİTER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LDS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AVANTAJI</a:t>
                      </a:r>
                    </a:p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LDS DEZAVANTAJI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338"/>
                  </a:ext>
                </a:extLst>
              </a:tr>
              <a:tr h="5415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UYGULAMA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DAHA SADE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GRAF KADAR GENEL DEĞİL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462831"/>
                  </a:ext>
                </a:extLst>
              </a:tr>
              <a:tr h="541507">
                <a:tc>
                  <a:txBody>
                    <a:bodyPr/>
                    <a:lstStyle/>
                    <a:p>
                      <a:r>
                        <a:rPr lang="tr-TR" dirty="0"/>
                        <a:t>KONUM TEMSİLİ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DOĞRUDAN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İLİŞKİ MODELİ SINIRLI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844749"/>
                  </a:ext>
                </a:extLst>
              </a:tr>
              <a:tr h="773581">
                <a:tc>
                  <a:txBody>
                    <a:bodyPr/>
                    <a:lstStyle/>
                    <a:p>
                      <a:r>
                        <a:rPr lang="tr-TR" dirty="0"/>
                        <a:t>KARAR MEKNİZMASI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ÇOK KRİTERLİ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GRAF KADAR ESNEK DEĞİL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112470"/>
                  </a:ext>
                </a:extLst>
              </a:tr>
              <a:tr h="696223">
                <a:tc>
                  <a:txBody>
                    <a:bodyPr/>
                    <a:lstStyle/>
                    <a:p>
                      <a:r>
                        <a:rPr lang="tr-TR" dirty="0"/>
                        <a:t>ÖĞRENME EĞRİSİ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DAHA KOLAY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ÖZEL PROBLEM ÇÖZÜMÜ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909671"/>
                  </a:ext>
                </a:extLst>
              </a:tr>
              <a:tr h="489934">
                <a:tc>
                  <a:txBody>
                    <a:bodyPr/>
                    <a:lstStyle/>
                    <a:p>
                      <a:r>
                        <a:rPr lang="tr-TR" dirty="0"/>
                        <a:t>MALİYET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DAHA DÜŞÜK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GENEL AMAÇLI DEĞİL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585406"/>
                  </a:ext>
                </a:extLst>
              </a:tr>
            </a:tbl>
          </a:graphicData>
        </a:graphic>
      </p:graphicFrame>
      <p:sp>
        <p:nvSpPr>
          <p:cNvPr id="5" name="Metin kutusu 4">
            <a:extLst>
              <a:ext uri="{FF2B5EF4-FFF2-40B4-BE49-F238E27FC236}">
                <a16:creationId xmlns:a16="http://schemas.microsoft.com/office/drawing/2014/main" id="{435AB4CA-682A-0469-F303-5BC6E81783DB}"/>
              </a:ext>
            </a:extLst>
          </p:cNvPr>
          <p:cNvSpPr txBox="1"/>
          <p:nvPr/>
        </p:nvSpPr>
        <p:spPr>
          <a:xfrm>
            <a:off x="1016000" y="342633"/>
            <a:ext cx="3657600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LDS ‘NİN AĞAC</a:t>
            </a:r>
            <a:r>
              <a:rPr lang="tr-TR" kern="1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tr-TR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GÖRE AVANTAJLARI VE DEZAVANTAJLARI </a:t>
            </a:r>
            <a:endParaRPr lang="tr-TR" sz="1050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6484719-31D4-8739-CBFB-0BD10CC8199A}"/>
              </a:ext>
            </a:extLst>
          </p:cNvPr>
          <p:cNvSpPr txBox="1"/>
          <p:nvPr/>
        </p:nvSpPr>
        <p:spPr>
          <a:xfrm>
            <a:off x="6512560" y="188144"/>
            <a:ext cx="4572000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LDS ‘NİN </a:t>
            </a:r>
            <a:r>
              <a:rPr lang="tr-TR" kern="1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GRAFA</a:t>
            </a:r>
            <a:r>
              <a:rPr lang="tr-TR" sz="1800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GÖRE AVANTAJLARI VE DEZAVANTAJLARI </a:t>
            </a:r>
            <a:endParaRPr lang="tr-TR" sz="1050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164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6DD53D4-9ED2-E044-92EB-432423A4DD3D}"/>
              </a:ext>
            </a:extLst>
          </p:cNvPr>
          <p:cNvSpPr txBox="1"/>
          <p:nvPr/>
        </p:nvSpPr>
        <p:spPr>
          <a:xfrm>
            <a:off x="1140541" y="1"/>
            <a:ext cx="9302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chemeClr val="accent3">
                    <a:lumMod val="75000"/>
                  </a:schemeClr>
                </a:solidFill>
              </a:rPr>
              <a:t>LDC’NİN GÜNLÜK HAYATTA KULLANIM ALANLARI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B8F511BA-0DE3-8E9D-8D26-1AAA283B7A0B}"/>
              </a:ext>
            </a:extLst>
          </p:cNvPr>
          <p:cNvSpPr txBox="1"/>
          <p:nvPr/>
        </p:nvSpPr>
        <p:spPr>
          <a:xfrm>
            <a:off x="1140541" y="941206"/>
            <a:ext cx="5067218" cy="5583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6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Yemek Siparişi Uygulamaları (Getir, </a:t>
            </a:r>
            <a:r>
              <a:rPr lang="tr-TR" sz="1600" b="1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Yemeksepeti</a:t>
            </a:r>
            <a:r>
              <a:rPr lang="tr-TR" sz="16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 Trendyol Yemek)</a:t>
            </a:r>
            <a:endParaRPr lang="tr-T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600" b="1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tr-TR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endParaRPr lang="tr-T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Aynı yemeği satan birçok restoran var</a:t>
            </a:r>
            <a:endParaRPr lang="tr-T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Kullanıcı:</a:t>
            </a:r>
            <a:endParaRPr lang="tr-T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tr-TR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Yakın olsun</a:t>
            </a:r>
            <a:endParaRPr lang="tr-T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tr-TR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Hızlı gelsin</a:t>
            </a:r>
            <a:endParaRPr lang="tr-T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tr-TR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Puanı yüksek olsun</a:t>
            </a:r>
            <a:r>
              <a:rPr lang="tr-T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ister</a:t>
            </a:r>
            <a:endParaRPr lang="tr-T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1600" b="1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tr-TR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LDS nasıl kullanılır?</a:t>
            </a:r>
            <a:endParaRPr lang="tr-T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6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tr-TR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tr-T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Kullanıcının çevresindeki restoran bölgelerini belirler</a:t>
            </a:r>
            <a:endParaRPr lang="tr-T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k-d Ağaç:</a:t>
            </a:r>
            <a:br>
              <a:rPr lang="tr-T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 bölgede kullanıcıya </a:t>
            </a:r>
            <a:r>
              <a:rPr lang="tr-TR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yakın restoranları</a:t>
            </a:r>
            <a:r>
              <a:rPr lang="tr-T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bulur</a:t>
            </a:r>
            <a:endParaRPr lang="tr-T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16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Dinamik Dizi (</a:t>
            </a:r>
            <a:r>
              <a:rPr lang="tr-TR" sz="1600" b="1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tr-TR" sz="16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tr-T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1600" dirty="0"/>
              <a:t>“Yakın aday restoranlar bir diziye alınır; mesafe, teslimat süresi ve puana göre skorlanarak en uygun restoran seçilir.”</a:t>
            </a:r>
            <a:r>
              <a:rPr lang="tr-TR" sz="16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 </a:t>
            </a:r>
            <a:endParaRPr lang="tr-T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06B9FEBA-A236-BBBE-A5C6-C738034C6F0F}"/>
              </a:ext>
            </a:extLst>
          </p:cNvPr>
          <p:cNvSpPr txBox="1"/>
          <p:nvPr/>
        </p:nvSpPr>
        <p:spPr>
          <a:xfrm>
            <a:off x="6543139" y="2132394"/>
            <a:ext cx="6182360" cy="4189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20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Acil Durum ve Sağlık Hizmetleri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20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Problem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yakın ambulans yeterli olmayabilir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Donanım, yoğunluk ve ulaşım süresi önemli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20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LDS ile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Yakındaki hastaneler belirlenir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Yakın adaylar arasından donanım ve ulaşım süresi kriterlerine göre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skorlanarak en uygun ekip seçilir.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20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📌</a:t>
            </a: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Hayati önemi olan bir kullanım alan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700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EAF1273-CFE4-32B7-0B55-76AA66C04B98}"/>
              </a:ext>
            </a:extLst>
          </p:cNvPr>
          <p:cNvSpPr txBox="1"/>
          <p:nvPr/>
        </p:nvSpPr>
        <p:spPr>
          <a:xfrm>
            <a:off x="304800" y="334597"/>
            <a:ext cx="111963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.</a:t>
            </a:r>
          </a:p>
          <a:p>
            <a:br>
              <a:rPr lang="tr-TR" dirty="0"/>
            </a:br>
            <a:r>
              <a:rPr lang="tr-TR" dirty="0"/>
              <a:t>”</a:t>
            </a:r>
          </a:p>
          <a:p>
            <a:br>
              <a:rPr lang="tr-TR" dirty="0"/>
            </a:br>
            <a:endParaRPr lang="tr-TR" dirty="0"/>
          </a:p>
          <a:p>
            <a:endParaRPr lang="tr-TR" dirty="0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50075D96-AAF0-CD51-D556-43219D56CB95}"/>
              </a:ext>
            </a:extLst>
          </p:cNvPr>
          <p:cNvSpPr txBox="1"/>
          <p:nvPr/>
        </p:nvSpPr>
        <p:spPr>
          <a:xfrm>
            <a:off x="690879" y="717630"/>
            <a:ext cx="5588001" cy="555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2400" b="1" kern="100" dirty="0">
                <a:solidFill>
                  <a:srgbClr val="0D0D0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Taksi / Araç Çağırma (Uber, </a:t>
            </a:r>
            <a:r>
              <a:rPr lang="tr-TR" sz="2400" b="1" kern="100" dirty="0" err="1">
                <a:solidFill>
                  <a:srgbClr val="0D0D0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BiTaksi</a:t>
            </a:r>
            <a:r>
              <a:rPr lang="tr-TR" sz="2400" b="1" kern="100" dirty="0">
                <a:solidFill>
                  <a:srgbClr val="0D0D0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Martı)</a:t>
            </a:r>
            <a:endParaRPr lang="tr-T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Problem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Etrafta çok sayıda sürücü var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Sadece en yakın olan yeterli değil: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Araç tipi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Sürücü puanı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Tahmini varış süresi önemli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LDS çözümü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Yakın sürücüler belirlenir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Puanı düşük veya geç gelenler elenir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uygun sürücü atanır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SONUÇ: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Aday sürücüler skorlanır ve en uygun sürücü seçilerek kullanıcıya</a:t>
            </a:r>
            <a:r>
              <a:rPr lang="tr-TR" sz="15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atanır.</a:t>
            </a:r>
            <a:endParaRPr lang="tr-TR" sz="1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E19FF192-A17F-FFDD-4F44-07B1F1509865}"/>
              </a:ext>
            </a:extLst>
          </p:cNvPr>
          <p:cNvSpPr txBox="1"/>
          <p:nvPr/>
        </p:nvSpPr>
        <p:spPr>
          <a:xfrm>
            <a:off x="6496813" y="1250067"/>
            <a:ext cx="5588001" cy="4697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24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Kargo ve Kurye Sistemleri</a:t>
            </a:r>
            <a:endParaRPr lang="tr-T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Problem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Aynı paketi teslim edebilecek birden fazla kurye var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Yakın aday kuryeler değerlendirilir; mesafe ve teslim süresine göre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skorlanarak en uygun kurye seçilir.</a:t>
            </a:r>
            <a:r>
              <a:rPr lang="tr-TR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LDS ile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Yakın kuryeler filtrelenir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Teslim süresi + mesafe değerlendirilir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uygun kurye seçilir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📌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Gerçek hayat benzetmesi: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Paketi en hızlı teslim edecek kişiyi bulmak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endParaRPr lang="tr-T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793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2C8378C5-19E4-4F88-A303-DC15DCB761DD}"/>
              </a:ext>
            </a:extLst>
          </p:cNvPr>
          <p:cNvSpPr txBox="1"/>
          <p:nvPr/>
        </p:nvSpPr>
        <p:spPr>
          <a:xfrm>
            <a:off x="1148080" y="1635760"/>
            <a:ext cx="5232400" cy="4553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24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Coğrafi Bilgi Sistemleri (GIS)</a:t>
            </a:r>
            <a:endParaRPr lang="tr-T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Problem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“Bulunduğum yere 2 km yakınındaki en iyi hastane / benzin istasyonu / kütüphane hangisi?”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LDS’nin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katkısı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Sadece mesafeye değil: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Hizmet kalitesi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Yoğunluk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Ücret</a:t>
            </a:r>
            <a:b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gibi kriterlere göre karar verir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📌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Klasik sistemler: “en yakın”</a:t>
            </a:r>
            <a:b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tr-TR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📌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LDS: “en uygun”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E2CCCE39-B764-8CB6-A3E3-988581B1FD85}"/>
              </a:ext>
            </a:extLst>
          </p:cNvPr>
          <p:cNvSpPr txBox="1"/>
          <p:nvPr/>
        </p:nvSpPr>
        <p:spPr>
          <a:xfrm>
            <a:off x="6512560" y="1727200"/>
            <a:ext cx="5984240" cy="406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24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Akıllı Şehir Sistemleri</a:t>
            </a:r>
            <a:endParaRPr lang="tr-T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Kullanım alanları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Otopark yönlendirme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Çöp toplama araçlarının yönlendirilmesi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Trafik yoğunluğuna göre rota seçimi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LDS rolü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Gerçek zamanlı karar verme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Çok sayıda sensör verisini değerlendirme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📌</a:t>
            </a: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Bilgisayar bilimlerinde bu: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Dinamik karar destek sistemi</a:t>
            </a:r>
            <a:endParaRPr lang="tr-TR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26B37CED-6C8C-18B2-36B0-7D5593798D4C}"/>
              </a:ext>
            </a:extLst>
          </p:cNvPr>
          <p:cNvSpPr txBox="1"/>
          <p:nvPr/>
        </p:nvSpPr>
        <p:spPr>
          <a:xfrm>
            <a:off x="1140541" y="1"/>
            <a:ext cx="92226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chemeClr val="accent3">
                    <a:lumMod val="75000"/>
                  </a:schemeClr>
                </a:solidFill>
              </a:rPr>
              <a:t>LDC’NİN BİLGİSAYAR BİLİMLERİNDE KULLANIM ALANLARI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159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C91972C-82E5-C181-9F7F-C737A0511454}"/>
              </a:ext>
            </a:extLst>
          </p:cNvPr>
          <p:cNvSpPr txBox="1"/>
          <p:nvPr/>
        </p:nvSpPr>
        <p:spPr>
          <a:xfrm>
            <a:off x="787078" y="729205"/>
            <a:ext cx="5095562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24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Robotik ve Otonom Sistemler</a:t>
            </a:r>
            <a:endParaRPr lang="tr-T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Robot:</a:t>
            </a:r>
            <a:endParaRPr lang="tr-T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yakın hedefi</a:t>
            </a:r>
            <a:endParaRPr lang="tr-T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Aday yollar değerlendirilir; güvenlik ve süre kriterlerine göre skorlanarak en uygun yol seçilir.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LDS çözümü</a:t>
            </a:r>
            <a:endParaRPr lang="tr-T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Sensörlerden gelen konum verileri işlenir</a:t>
            </a:r>
            <a:endParaRPr lang="tr-T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uygun hedef seçilir</a:t>
            </a:r>
            <a:endParaRPr lang="tr-T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Örnek:</a:t>
            </a:r>
            <a:b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Depo robotlarının siparişe en hızlı ulaşanı seçmesi</a:t>
            </a:r>
            <a:endParaRPr lang="tr-T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F736DC4-55DA-8F47-69C0-C4BE5A28220F}"/>
              </a:ext>
            </a:extLst>
          </p:cNvPr>
          <p:cNvSpPr txBox="1"/>
          <p:nvPr/>
        </p:nvSpPr>
        <p:spPr>
          <a:xfrm>
            <a:off x="6423949" y="1041722"/>
            <a:ext cx="4625051" cy="346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24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Lojistik ve Dağıtım Optimizasyonu</a:t>
            </a:r>
            <a:endParaRPr lang="tr-T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Problem</a:t>
            </a:r>
            <a:endParaRPr lang="tr-T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Sipariş hangi depodan karşılanmalı?</a:t>
            </a:r>
            <a:endParaRPr lang="tr-T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Hangisi daha hızlı ve daha ucuz?</a:t>
            </a:r>
            <a:endParaRPr lang="tr-T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🔹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LDS rolü</a:t>
            </a:r>
            <a:endParaRPr lang="tr-T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Depolar konuma göre filtrelenir</a:t>
            </a:r>
            <a:endParaRPr lang="tr-T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4061460" algn="l"/>
              </a:tabLst>
            </a:pPr>
            <a:r>
              <a:rPr lang="tr-TR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Yakın depolar aday olarak belirlenir; maliyet ve teslim süresine göre skorlanarak en uygun depo seçilir.</a:t>
            </a:r>
          </a:p>
        </p:txBody>
      </p:sp>
    </p:spTree>
    <p:extLst>
      <p:ext uri="{BB962C8B-B14F-4D97-AF65-F5344CB8AC3E}">
        <p14:creationId xmlns:p14="http://schemas.microsoft.com/office/powerpoint/2010/main" val="2468945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214C9F6-3772-4A56-E898-6305B6645D79}"/>
              </a:ext>
            </a:extLst>
          </p:cNvPr>
          <p:cNvSpPr txBox="1"/>
          <p:nvPr/>
        </p:nvSpPr>
        <p:spPr>
          <a:xfrm>
            <a:off x="843280" y="203200"/>
            <a:ext cx="8300720" cy="596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 Yapısını Oluşturma İşlemleri</a:t>
            </a:r>
            <a:endParaRPr lang="tr-T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Quadtree</a:t>
            </a:r>
            <a:r>
              <a:rPr lang="tr-T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kök düğümünün oluşturulması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Haritanın dört ana bölgeye ayrılması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 bölge için k-d ağaç yapısının hazır kabul edilmesi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Dinamik dizinin (</a:t>
            </a:r>
            <a:r>
              <a:rPr lang="tr-T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</a:t>
            </a:r>
            <a:r>
              <a:rPr lang="tr-T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boş olarak tanımlanması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Zaman Karmaşıklığı</a:t>
            </a:r>
            <a:endParaRPr lang="tr-T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O(1)</a:t>
            </a:r>
            <a:endParaRPr lang="tr-T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Açıklama</a:t>
            </a:r>
            <a:endParaRPr lang="tr-T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 işlemde sabit sayıda yapı oluşturulmaktadır. Veri sayısına bağlı bir döngü veya tekrar olmadığı için zaman karmaşıklığı sabittir.</a:t>
            </a:r>
          </a:p>
        </p:txBody>
      </p:sp>
    </p:spTree>
    <p:extLst>
      <p:ext uri="{BB962C8B-B14F-4D97-AF65-F5344CB8AC3E}">
        <p14:creationId xmlns:p14="http://schemas.microsoft.com/office/powerpoint/2010/main" val="2496474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D3846D1-5401-CA6B-6244-EE79DAEC930D}"/>
              </a:ext>
            </a:extLst>
          </p:cNvPr>
          <p:cNvSpPr txBox="1"/>
          <p:nvPr/>
        </p:nvSpPr>
        <p:spPr>
          <a:xfrm>
            <a:off x="995680" y="386080"/>
            <a:ext cx="81483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2400" b="1" dirty="0"/>
              <a:t>Veri Ekleme (Satıcı Ekleme) İşlemleri</a:t>
            </a:r>
          </a:p>
          <a:p>
            <a:pPr>
              <a:buFont typeface="+mj-lt"/>
              <a:buAutoNum type="arabicPeriod"/>
            </a:pPr>
            <a:r>
              <a:rPr lang="tr-TR" sz="2400" dirty="0"/>
              <a:t>Satıcının konumuna göre </a:t>
            </a:r>
            <a:r>
              <a:rPr lang="tr-TR" sz="2400" dirty="0" err="1"/>
              <a:t>Quadtree</a:t>
            </a:r>
            <a:r>
              <a:rPr lang="tr-TR" sz="2400" dirty="0"/>
              <a:t> üzerinden ilgili bölgenin bulunması</a:t>
            </a:r>
          </a:p>
          <a:p>
            <a:pPr>
              <a:buFont typeface="+mj-lt"/>
              <a:buAutoNum type="arabicPeriod"/>
            </a:pPr>
            <a:r>
              <a:rPr lang="tr-TR" sz="2400" dirty="0"/>
              <a:t>Satıcının, o bölgeye ait k-d ağaca eklenmesi</a:t>
            </a:r>
          </a:p>
          <a:p>
            <a:endParaRPr lang="tr-TR" sz="2400" dirty="0"/>
          </a:p>
          <a:p>
            <a:pPr>
              <a:buNone/>
            </a:pPr>
            <a:r>
              <a:rPr lang="tr-TR" sz="2400" b="1" dirty="0"/>
              <a:t>Zaman Karmaşıklığı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 err="1"/>
              <a:t>Quadtree</a:t>
            </a:r>
            <a:r>
              <a:rPr lang="tr-TR" sz="2400" dirty="0"/>
              <a:t> bölge bulma: </a:t>
            </a:r>
            <a:r>
              <a:rPr lang="tr-TR" sz="2400" b="1" dirty="0"/>
              <a:t>O(log n)</a:t>
            </a:r>
            <a:endParaRPr lang="tr-T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/>
              <a:t>k-d ağaç ekleme: </a:t>
            </a:r>
            <a:r>
              <a:rPr lang="tr-TR" sz="2400" b="1" dirty="0"/>
              <a:t>O(log n)</a:t>
            </a:r>
          </a:p>
          <a:p>
            <a:endParaRPr lang="tr-T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/>
              <a:t>Toplam: O(log n)</a:t>
            </a:r>
          </a:p>
          <a:p>
            <a:pPr>
              <a:buNone/>
            </a:pPr>
            <a:r>
              <a:rPr lang="tr-TR" sz="2400" b="1" dirty="0"/>
              <a:t>Açıklama</a:t>
            </a:r>
          </a:p>
          <a:p>
            <a:pPr>
              <a:buNone/>
            </a:pPr>
            <a:r>
              <a:rPr lang="tr-TR" sz="2400" dirty="0" err="1"/>
              <a:t>Quadtree</a:t>
            </a:r>
            <a:r>
              <a:rPr lang="tr-TR" sz="2400" dirty="0"/>
              <a:t>, arama alanını hiyerarşik olarak daralttığı için bölge bulma işlemi logaritmik sürede gerçekleşir.</a:t>
            </a:r>
            <a:br>
              <a:rPr lang="tr-TR" sz="2400" dirty="0"/>
            </a:br>
            <a:r>
              <a:rPr lang="tr-TR" sz="2400" dirty="0"/>
              <a:t>Benzer şekilde, dengeli bir k-d ağaçta ekleme işlemi ortalama durumda </a:t>
            </a:r>
            <a:r>
              <a:rPr lang="tr-TR" sz="2400" b="1" dirty="0"/>
              <a:t>O(log n)</a:t>
            </a:r>
            <a:r>
              <a:rPr lang="tr-TR" sz="2400" dirty="0"/>
              <a:t> zaman alır.</a:t>
            </a:r>
          </a:p>
        </p:txBody>
      </p:sp>
    </p:spTree>
    <p:extLst>
      <p:ext uri="{BB962C8B-B14F-4D97-AF65-F5344CB8AC3E}">
        <p14:creationId xmlns:p14="http://schemas.microsoft.com/office/powerpoint/2010/main" val="350650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67CF445-2889-7CEB-A26C-9010DC7DD34B}"/>
              </a:ext>
            </a:extLst>
          </p:cNvPr>
          <p:cNvSpPr txBox="1"/>
          <p:nvPr/>
        </p:nvSpPr>
        <p:spPr>
          <a:xfrm>
            <a:off x="879677" y="393540"/>
            <a:ext cx="8261430" cy="589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 Silme (Satıcı Silme)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İşlemler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Quadtree</a:t>
            </a:r>
            <a:r>
              <a:rPr lang="tr-T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üzerinden satıcının bulunduğu bölgenin tespit edilmesi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İlgili k-d ağaçtan satıcının çıkarılması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tr-T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Eğer satıcı aday dizisinde bulunuyorsa diziden silinmesi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Zaman Karmaşıklığı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Quadtree</a:t>
            </a:r>
            <a:r>
              <a:rPr lang="tr-T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bölge bulma: </a:t>
            </a: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O(log n)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k-d ağaç silme: </a:t>
            </a: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O(log n)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Dinamik diziden silme: </a:t>
            </a: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O(k)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Toplam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O(log n + k)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Açıklama</a:t>
            </a:r>
            <a:endParaRPr lang="tr-T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tr-T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Aday dizisi yalnızca sınırlı sayıda eleman içerdiği için (</a:t>
            </a:r>
            <a:r>
              <a:rPr lang="tr-T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 </a:t>
            </a:r>
            <a:r>
              <a:rPr lang="tr-TR" sz="20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≪</a:t>
            </a:r>
            <a:r>
              <a:rPr lang="tr-T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</a:t>
            </a:r>
            <a:r>
              <a:rPr lang="tr-T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doğrusal tarama kabul edilebilir düzeydedir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710603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9967656-5277-FE3A-725E-AE35F8D19222}"/>
              </a:ext>
            </a:extLst>
          </p:cNvPr>
          <p:cNvSpPr txBox="1"/>
          <p:nvPr/>
        </p:nvSpPr>
        <p:spPr>
          <a:xfrm>
            <a:off x="1111170" y="439838"/>
            <a:ext cx="8029936" cy="2787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Elemanları Gezinme ve Ekrana Yazdırma</a:t>
            </a:r>
            <a:r>
              <a:rPr lang="tr-TR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İşlemleri</a:t>
            </a:r>
            <a:endParaRPr lang="tr-TR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Quadtree’nin</a:t>
            </a:r>
            <a:r>
              <a:rPr lang="tr-T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tüm bölgelerinin dolaşılması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 bölgedeki k-d ağacın gezilmesi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Satıcı bilgilerinin ekrana yazdırılması</a:t>
            </a:r>
            <a:endParaRPr lang="tr-TR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r-T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97620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60EBB95-F1E7-1DBE-E458-A00050AE7E7A}"/>
              </a:ext>
            </a:extLst>
          </p:cNvPr>
          <p:cNvSpPr txBox="1"/>
          <p:nvPr/>
        </p:nvSpPr>
        <p:spPr>
          <a:xfrm>
            <a:off x="1524000" y="969622"/>
            <a:ext cx="88712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chemeClr val="accent3">
                    <a:lumMod val="75000"/>
                  </a:schemeClr>
                </a:solidFill>
              </a:rPr>
              <a:t>SONUÇ</a:t>
            </a:r>
            <a:endParaRPr lang="tr-TR" sz="2800" b="1" dirty="0">
              <a:solidFill>
                <a:schemeClr val="bg1"/>
              </a:solidFill>
            </a:endParaRPr>
          </a:p>
          <a:p>
            <a:pPr>
              <a:defRPr sz="1300"/>
            </a:pPr>
            <a:r>
              <a:rPr lang="tr-TR" sz="2800" dirty="0"/>
              <a:t>Bu hibrit veri yapısı, konum tabanlı çok kriterli karar problemlerini verimli bir şekilde çözer.</a:t>
            </a:r>
          </a:p>
          <a:p>
            <a:pPr>
              <a:defRPr sz="1300"/>
            </a:pPr>
            <a:r>
              <a:rPr lang="tr-TR" sz="2800" dirty="0"/>
              <a:t>Günlük hayat uygulamaları ve bilgisayar bilimleri için uygun kullanımlar sunar.</a:t>
            </a:r>
          </a:p>
          <a:p>
            <a:endParaRPr lang="tr-T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03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2DC30C4-9C90-BFC4-7082-FE3A455BF77A}"/>
              </a:ext>
            </a:extLst>
          </p:cNvPr>
          <p:cNvSpPr txBox="1"/>
          <p:nvPr/>
        </p:nvSpPr>
        <p:spPr>
          <a:xfrm>
            <a:off x="2271252" y="1553497"/>
            <a:ext cx="6843251" cy="256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24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KAYNAKÇA</a:t>
            </a:r>
            <a:endParaRPr lang="tr-TR" sz="1400" kern="100" dirty="0">
              <a:solidFill>
                <a:schemeClr val="accent3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PyBlog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(</a:t>
            </a:r>
            <a:r>
              <a:rPr lang="tr-TR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n.d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.). </a:t>
            </a:r>
            <a:r>
              <a:rPr lang="tr-TR" sz="18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Quad</a:t>
            </a:r>
            <a:r>
              <a:rPr lang="tr-TR" sz="18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-KD </a:t>
            </a:r>
            <a:r>
              <a:rPr lang="tr-TR" sz="18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tree</a:t>
            </a:r>
            <a:r>
              <a:rPr lang="tr-TR" sz="18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18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hybrid</a:t>
            </a:r>
            <a:r>
              <a:rPr lang="tr-TR" sz="18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18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structures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tr-TR" sz="1800" b="1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https://pyblog.xyz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tr-T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Wikipedia – R-</a:t>
            </a:r>
            <a:r>
              <a:rPr lang="tr-TR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tree</a:t>
            </a:r>
            <a:b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tr-TR" sz="1800" b="1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https://en.wikipedia.org/wiki/R-tree</a:t>
            </a: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tr-T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4061460" algn="l"/>
              </a:tabLst>
            </a:pPr>
            <a: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Wikipedia – k-d </a:t>
            </a:r>
            <a:r>
              <a:rPr lang="tr-TR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tree</a:t>
            </a:r>
            <a:br>
              <a:rPr lang="tr-T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tr-TR" sz="1800" b="1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https://en.wikipedia.org/wiki/K-d_tree</a:t>
            </a:r>
            <a:endParaRPr lang="tr-T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121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1704</TotalTime>
  <Words>1797</Words>
  <Application>Microsoft Office PowerPoint</Application>
  <PresentationFormat>Geniş ekran</PresentationFormat>
  <Paragraphs>352</Paragraphs>
  <Slides>22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Courier New</vt:lpstr>
      <vt:lpstr>Segoe UI Emoji</vt:lpstr>
      <vt:lpstr>Symbol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ESMA YILDIRIM</dc:creator>
  <cp:lastModifiedBy>ESMA YILDIRIM</cp:lastModifiedBy>
  <cp:revision>9</cp:revision>
  <dcterms:created xsi:type="dcterms:W3CDTF">2025-12-17T05:24:32Z</dcterms:created>
  <dcterms:modified xsi:type="dcterms:W3CDTF">2025-12-21T18:01:21Z</dcterms:modified>
</cp:coreProperties>
</file>